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1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2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3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4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5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6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7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f22494c81e489f" /><Relationship Type="http://schemas.openxmlformats.org/officeDocument/2006/relationships/extended-properties" Target="/docProps/app.xml" Id="R95ff356811b04a29" /><Relationship Type="http://schemas.openxmlformats.org/officeDocument/2006/relationships/officeDocument" Target="/ppt/presentation.xml" Id="Ra02fb66b74e04f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0e3cf9444485e"/>
  </p:sldMasterIdLst>
  <p:notesMasterIdLst>
    <p:notesMasterId xmlns:r="http://schemas.openxmlformats.org/officeDocument/2006/relationships" r:id="Re3063349a48f4f5e"/>
  </p:notesMasterIdLst>
  <p:sldIdLst>
    <p:sldId xmlns:r="http://schemas.openxmlformats.org/officeDocument/2006/relationships" id="256" r:id="R27c978293e664732"/>
    <p:sldId xmlns:r="http://schemas.openxmlformats.org/officeDocument/2006/relationships" id="257" r:id="R7862015064584783"/>
    <p:sldId xmlns:r="http://schemas.openxmlformats.org/officeDocument/2006/relationships" id="258" r:id="Ra9aedca3b5224735"/>
    <p:sldId xmlns:r="http://schemas.openxmlformats.org/officeDocument/2006/relationships" id="259" r:id="Rb3239537517345e4"/>
    <p:sldId xmlns:r="http://schemas.openxmlformats.org/officeDocument/2006/relationships" id="260" r:id="R6bd0d9ef24594885"/>
    <p:sldId xmlns:r="http://schemas.openxmlformats.org/officeDocument/2006/relationships" id="261" r:id="R3ee8acdcf52c499c"/>
    <p:sldId xmlns:r="http://schemas.openxmlformats.org/officeDocument/2006/relationships" id="262" r:id="R100dc4b06bf74ca8"/>
    <p:sldId xmlns:r="http://schemas.openxmlformats.org/officeDocument/2006/relationships" id="263" r:id="Rfc062499b6704bf3"/>
    <p:sldId xmlns:r="http://schemas.openxmlformats.org/officeDocument/2006/relationships" id="264" r:id="R8a433038c2a24a0b"/>
    <p:sldId xmlns:r="http://schemas.openxmlformats.org/officeDocument/2006/relationships" id="265" r:id="R4727c13a2fcf4bb0"/>
    <p:sldId xmlns:r="http://schemas.openxmlformats.org/officeDocument/2006/relationships" id="266" r:id="Re373263e1cb844c1"/>
    <p:sldId xmlns:r="http://schemas.openxmlformats.org/officeDocument/2006/relationships" id="267" r:id="R6fa5e45523f84061"/>
    <p:sldId xmlns:r="http://schemas.openxmlformats.org/officeDocument/2006/relationships" id="268" r:id="Rcbdf9bed758048fa"/>
    <p:sldId xmlns:r="http://schemas.openxmlformats.org/officeDocument/2006/relationships" id="269" r:id="Rff072b98b8f04630"/>
    <p:sldId xmlns:r="http://schemas.openxmlformats.org/officeDocument/2006/relationships" id="270" r:id="R0f437545307f4f9e"/>
    <p:sldId xmlns:r="http://schemas.openxmlformats.org/officeDocument/2006/relationships" id="271" r:id="R1ce058a8ef65448d"/>
    <p:sldId xmlns:r="http://schemas.openxmlformats.org/officeDocument/2006/relationships" id="272" r:id="Rec5978145a85458e"/>
    <p:sldId xmlns:r="http://schemas.openxmlformats.org/officeDocument/2006/relationships" id="273" r:id="R692aba3b3316417d"/>
    <p:sldId xmlns:r="http://schemas.openxmlformats.org/officeDocument/2006/relationships" id="274" r:id="Rea5e335bc4f74e4f"/>
    <p:sldId xmlns:r="http://schemas.openxmlformats.org/officeDocument/2006/relationships" id="275" r:id="R88881d96db804754"/>
    <p:sldId xmlns:r="http://schemas.openxmlformats.org/officeDocument/2006/relationships" id="276" r:id="R710b64a89a4b4627"/>
    <p:sldId xmlns:r="http://schemas.openxmlformats.org/officeDocument/2006/relationships" id="277" r:id="Rb9f43e6b54bc4460"/>
    <p:sldId xmlns:r="http://schemas.openxmlformats.org/officeDocument/2006/relationships" id="278" r:id="R4ce49600a5204836"/>
    <p:sldId xmlns:r="http://schemas.openxmlformats.org/officeDocument/2006/relationships" id="279" r:id="R59a46112464c41da"/>
    <p:sldId xmlns:r="http://schemas.openxmlformats.org/officeDocument/2006/relationships" id="280" r:id="Rcefef1d4977643c7"/>
    <p:sldId xmlns:r="http://schemas.openxmlformats.org/officeDocument/2006/relationships" id="281" r:id="R7638e675de274c67"/>
    <p:sldId xmlns:r="http://schemas.openxmlformats.org/officeDocument/2006/relationships" id="282" r:id="Rc99daeacaac84332"/>
    <p:sldId xmlns:r="http://schemas.openxmlformats.org/officeDocument/2006/relationships" id="283" r:id="Rd404accace394cc5"/>
    <p:sldId xmlns:r="http://schemas.openxmlformats.org/officeDocument/2006/relationships" id="284" r:id="Rf6b24bf80e8f465f"/>
    <p:sldId xmlns:r="http://schemas.openxmlformats.org/officeDocument/2006/relationships" id="285" r:id="Rd63c1293f4294884"/>
    <p:sldId xmlns:r="http://schemas.openxmlformats.org/officeDocument/2006/relationships" id="286" r:id="Re25517af8c704425"/>
    <p:sldId xmlns:r="http://schemas.openxmlformats.org/officeDocument/2006/relationships" id="287" r:id="R3ca334e3747f4c59"/>
    <p:sldId xmlns:r="http://schemas.openxmlformats.org/officeDocument/2006/relationships" id="288" r:id="Ra08dcf4591264b0e"/>
    <p:sldId xmlns:r="http://schemas.openxmlformats.org/officeDocument/2006/relationships" id="289" r:id="R5c42d7971885487d"/>
    <p:sldId xmlns:r="http://schemas.openxmlformats.org/officeDocument/2006/relationships" id="290" r:id="R4e158694d837498d"/>
    <p:sldId xmlns:r="http://schemas.openxmlformats.org/officeDocument/2006/relationships" id="291" r:id="Re35e42828ee249f9"/>
    <p:sldId xmlns:r="http://schemas.openxmlformats.org/officeDocument/2006/relationships" id="292" r:id="R5dd594e3aecc478d"/>
    <p:sldId xmlns:r="http://schemas.openxmlformats.org/officeDocument/2006/relationships" id="293" r:id="R9838465418d34aa7"/>
    <p:sldId xmlns:r="http://schemas.openxmlformats.org/officeDocument/2006/relationships" id="294" r:id="Rce598fc6043348d9"/>
    <p:sldId xmlns:r="http://schemas.openxmlformats.org/officeDocument/2006/relationships" id="295" r:id="R4c424e649adf4ee1"/>
    <p:sldId xmlns:r="http://schemas.openxmlformats.org/officeDocument/2006/relationships" id="296" r:id="R4663f919c0724d13"/>
    <p:sldId xmlns:r="http://schemas.openxmlformats.org/officeDocument/2006/relationships" id="297" r:id="R43e224f352a84249"/>
    <p:sldId xmlns:r="http://schemas.openxmlformats.org/officeDocument/2006/relationships" id="298" r:id="Rf7f8143609524589"/>
    <p:sldId xmlns:r="http://schemas.openxmlformats.org/officeDocument/2006/relationships" id="299" r:id="R406c49642cad4792"/>
    <p:sldId xmlns:r="http://schemas.openxmlformats.org/officeDocument/2006/relationships" id="300" r:id="Ra6147d39c0b449e8"/>
    <p:sldId xmlns:r="http://schemas.openxmlformats.org/officeDocument/2006/relationships" id="301" r:id="R09352c95a2064f9f"/>
    <p:sldId xmlns:r="http://schemas.openxmlformats.org/officeDocument/2006/relationships" id="302" r:id="R9f416460c2954508"/>
    <p:sldId xmlns:r="http://schemas.openxmlformats.org/officeDocument/2006/relationships" id="303" r:id="R147c8dfaa4284526"/>
    <p:sldId xmlns:r="http://schemas.openxmlformats.org/officeDocument/2006/relationships" id="304" r:id="R84bc2be485f841ae"/>
    <p:sldId xmlns:r="http://schemas.openxmlformats.org/officeDocument/2006/relationships" id="305" r:id="R4585e7c6b4464c41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b952724842476b" /><Relationship Type="http://schemas.openxmlformats.org/officeDocument/2006/relationships/slideMaster" Target="/ppt/slideMasters/slideMaster1.xml" Id="Ref90e3cf9444485e" /><Relationship Type="http://schemas.openxmlformats.org/officeDocument/2006/relationships/notesMaster" Target="/ppt/notesMasters/notesMaster1.xml" Id="Re3063349a48f4f5e" /><Relationship Type="http://schemas.openxmlformats.org/officeDocument/2006/relationships/presProps" Target="/ppt/presProps.xml" Id="Raeb38df23ae047dc" /><Relationship Type="http://schemas.openxmlformats.org/officeDocument/2006/relationships/viewProps" Target="/ppt/viewProps.xml" Id="R1cfc5c8503704847" /><Relationship Type="http://schemas.openxmlformats.org/officeDocument/2006/relationships/tableStyles" Target="/ppt/tableStyles.xml" Id="R1bdb9596050e4c52" /><Relationship Type="http://schemas.openxmlformats.org/officeDocument/2006/relationships/slide" Target="/ppt/slides/slide1.xml" Id="R27c978293e664732" /><Relationship Type="http://schemas.openxmlformats.org/officeDocument/2006/relationships/slide" Target="/ppt/slides/slide2.xml" Id="R7862015064584783" /><Relationship Type="http://schemas.openxmlformats.org/officeDocument/2006/relationships/slide" Target="/ppt/slides/slide3.xml" Id="Ra9aedca3b5224735" /><Relationship Type="http://schemas.openxmlformats.org/officeDocument/2006/relationships/slide" Target="/ppt/slides/slide4.xml" Id="Rb3239537517345e4" /><Relationship Type="http://schemas.openxmlformats.org/officeDocument/2006/relationships/slide" Target="/ppt/slides/slide5.xml" Id="R6bd0d9ef24594885" /><Relationship Type="http://schemas.openxmlformats.org/officeDocument/2006/relationships/slide" Target="/ppt/slides/slide6.xml" Id="R3ee8acdcf52c499c" /><Relationship Type="http://schemas.openxmlformats.org/officeDocument/2006/relationships/slide" Target="/ppt/slides/slide7.xml" Id="R100dc4b06bf74ca8" /><Relationship Type="http://schemas.openxmlformats.org/officeDocument/2006/relationships/slide" Target="/ppt/slides/slide8.xml" Id="Rfc062499b6704bf3" /><Relationship Type="http://schemas.openxmlformats.org/officeDocument/2006/relationships/slide" Target="/ppt/slides/slide9.xml" Id="R8a433038c2a24a0b" /><Relationship Type="http://schemas.openxmlformats.org/officeDocument/2006/relationships/slide" Target="/ppt/slides/slide10.xml" Id="R4727c13a2fcf4bb0" /><Relationship Type="http://schemas.openxmlformats.org/officeDocument/2006/relationships/slide" Target="/ppt/slides/slide11.xml" Id="Re373263e1cb844c1" /><Relationship Type="http://schemas.openxmlformats.org/officeDocument/2006/relationships/slide" Target="/ppt/slides/slide12.xml" Id="R6fa5e45523f84061" /><Relationship Type="http://schemas.openxmlformats.org/officeDocument/2006/relationships/slide" Target="/ppt/slides/slide13.xml" Id="Rcbdf9bed758048fa" /><Relationship Type="http://schemas.openxmlformats.org/officeDocument/2006/relationships/slide" Target="/ppt/slides/slide14.xml" Id="Rff072b98b8f04630" /><Relationship Type="http://schemas.openxmlformats.org/officeDocument/2006/relationships/slide" Target="/ppt/slides/slide15.xml" Id="R0f437545307f4f9e" /><Relationship Type="http://schemas.openxmlformats.org/officeDocument/2006/relationships/slide" Target="/ppt/slides/slide16.xml" Id="R1ce058a8ef65448d" /><Relationship Type="http://schemas.openxmlformats.org/officeDocument/2006/relationships/slide" Target="/ppt/slides/slide17.xml" Id="Rec5978145a85458e" /><Relationship Type="http://schemas.openxmlformats.org/officeDocument/2006/relationships/slide" Target="/ppt/slides/slide18.xml" Id="R692aba3b3316417d" /><Relationship Type="http://schemas.openxmlformats.org/officeDocument/2006/relationships/slide" Target="/ppt/slides/slide19.xml" Id="Rea5e335bc4f74e4f" /><Relationship Type="http://schemas.openxmlformats.org/officeDocument/2006/relationships/slide" Target="/ppt/slides/slide20.xml" Id="R88881d96db804754" /><Relationship Type="http://schemas.openxmlformats.org/officeDocument/2006/relationships/slide" Target="/ppt/slides/slide21.xml" Id="R710b64a89a4b4627" /><Relationship Type="http://schemas.openxmlformats.org/officeDocument/2006/relationships/slide" Target="/ppt/slides/slide22.xml" Id="Rb9f43e6b54bc4460" /><Relationship Type="http://schemas.openxmlformats.org/officeDocument/2006/relationships/slide" Target="/ppt/slides/slide23.xml" Id="R4ce49600a5204836" /><Relationship Type="http://schemas.openxmlformats.org/officeDocument/2006/relationships/slide" Target="/ppt/slides/slide24.xml" Id="R59a46112464c41da" /><Relationship Type="http://schemas.openxmlformats.org/officeDocument/2006/relationships/slide" Target="/ppt/slides/slide25.xml" Id="Rcefef1d4977643c7" /><Relationship Type="http://schemas.openxmlformats.org/officeDocument/2006/relationships/slide" Target="/ppt/slides/slide26.xml" Id="R7638e675de274c67" /><Relationship Type="http://schemas.openxmlformats.org/officeDocument/2006/relationships/slide" Target="/ppt/slides/slide27.xml" Id="Rc99daeacaac84332" /><Relationship Type="http://schemas.openxmlformats.org/officeDocument/2006/relationships/slide" Target="/ppt/slides/slide28.xml" Id="Rd404accace394cc5" /><Relationship Type="http://schemas.openxmlformats.org/officeDocument/2006/relationships/slide" Target="/ppt/slides/slide29.xml" Id="Rf6b24bf80e8f465f" /><Relationship Type="http://schemas.openxmlformats.org/officeDocument/2006/relationships/slide" Target="/ppt/slides/slide30.xml" Id="Rd63c1293f4294884" /><Relationship Type="http://schemas.openxmlformats.org/officeDocument/2006/relationships/slide" Target="/ppt/slides/slide31.xml" Id="Re25517af8c704425" /><Relationship Type="http://schemas.openxmlformats.org/officeDocument/2006/relationships/slide" Target="/ppt/slides/slide32.xml" Id="R3ca334e3747f4c59" /><Relationship Type="http://schemas.openxmlformats.org/officeDocument/2006/relationships/slide" Target="/ppt/slides/slide33.xml" Id="Ra08dcf4591264b0e" /><Relationship Type="http://schemas.openxmlformats.org/officeDocument/2006/relationships/slide" Target="/ppt/slides/slide34.xml" Id="R5c42d7971885487d" /><Relationship Type="http://schemas.openxmlformats.org/officeDocument/2006/relationships/slide" Target="/ppt/slides/slide35.xml" Id="R4e158694d837498d" /><Relationship Type="http://schemas.openxmlformats.org/officeDocument/2006/relationships/slide" Target="/ppt/slides/slide36.xml" Id="Re35e42828ee249f9" /><Relationship Type="http://schemas.openxmlformats.org/officeDocument/2006/relationships/slide" Target="/ppt/slides/slide37.xml" Id="R5dd594e3aecc478d" /><Relationship Type="http://schemas.openxmlformats.org/officeDocument/2006/relationships/slide" Target="/ppt/slides/slide38.xml" Id="R9838465418d34aa7" /><Relationship Type="http://schemas.openxmlformats.org/officeDocument/2006/relationships/slide" Target="/ppt/slides/slide39.xml" Id="Rce598fc6043348d9" /><Relationship Type="http://schemas.openxmlformats.org/officeDocument/2006/relationships/slide" Target="/ppt/slides/slide40.xml" Id="R4c424e649adf4ee1" /><Relationship Type="http://schemas.openxmlformats.org/officeDocument/2006/relationships/slide" Target="/ppt/slides/slide41.xml" Id="R4663f919c0724d13" /><Relationship Type="http://schemas.openxmlformats.org/officeDocument/2006/relationships/slide" Target="/ppt/slides/slide42.xml" Id="R43e224f352a84249" /><Relationship Type="http://schemas.openxmlformats.org/officeDocument/2006/relationships/slide" Target="/ppt/slides/slide43.xml" Id="Rf7f8143609524589" /><Relationship Type="http://schemas.openxmlformats.org/officeDocument/2006/relationships/slide" Target="/ppt/slides/slide44.xml" Id="R406c49642cad4792" /><Relationship Type="http://schemas.openxmlformats.org/officeDocument/2006/relationships/slide" Target="/ppt/slides/slide45.xml" Id="Ra6147d39c0b449e8" /><Relationship Type="http://schemas.openxmlformats.org/officeDocument/2006/relationships/slide" Target="/ppt/slides/slide46.xml" Id="R09352c95a2064f9f" /><Relationship Type="http://schemas.openxmlformats.org/officeDocument/2006/relationships/slide" Target="/ppt/slides/slide47.xml" Id="R9f416460c2954508" /><Relationship Type="http://schemas.openxmlformats.org/officeDocument/2006/relationships/slide" Target="/ppt/slides/slide48.xml" Id="R147c8dfaa4284526" /><Relationship Type="http://schemas.openxmlformats.org/officeDocument/2006/relationships/slide" Target="/ppt/slides/slide49.xml" Id="R84bc2be485f841ae" /><Relationship Type="http://schemas.openxmlformats.org/officeDocument/2006/relationships/slide" Target="/ppt/slides/slide50.xml" Id="R4585e7c6b4464c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bb57cc2a8c43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f73ce0672c4c89" /><Relationship Type="http://schemas.openxmlformats.org/officeDocument/2006/relationships/notesMaster" Target="/ppt/notesMasters/notesMaster1.xml" Id="R77de4f7db4fe44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df78786a504da0" /><Relationship Type="http://schemas.openxmlformats.org/officeDocument/2006/relationships/notesMaster" Target="/ppt/notesMasters/notesMaster1.xml" Id="R65afdfb269b944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de3a353d3a4025" /><Relationship Type="http://schemas.openxmlformats.org/officeDocument/2006/relationships/notesMaster" Target="/ppt/notesMasters/notesMaster1.xml" Id="Ra07f5177bd1646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739f60aac443aa" /><Relationship Type="http://schemas.openxmlformats.org/officeDocument/2006/relationships/notesMaster" Target="/ppt/notesMasters/notesMaster1.xml" Id="R15a207dd109142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4299c766144a39" /><Relationship Type="http://schemas.openxmlformats.org/officeDocument/2006/relationships/notesMaster" Target="/ppt/notesMasters/notesMaster1.xml" Id="Ra02af81a8a2243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95d6bff528475d" /><Relationship Type="http://schemas.openxmlformats.org/officeDocument/2006/relationships/notesMaster" Target="/ppt/notesMasters/notesMaster1.xml" Id="Rb77fa12c0a9744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cafb765e4f4466" /><Relationship Type="http://schemas.openxmlformats.org/officeDocument/2006/relationships/notesMaster" Target="/ppt/notesMasters/notesMaster1.xml" Id="Rfe42b55e6d7845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9ad6b3940e412f" /><Relationship Type="http://schemas.openxmlformats.org/officeDocument/2006/relationships/notesMaster" Target="/ppt/notesMasters/notesMaster1.xml" Id="Rabd5982f057f49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2c53f39e854e48" /><Relationship Type="http://schemas.openxmlformats.org/officeDocument/2006/relationships/notesMaster" Target="/ppt/notesMasters/notesMaster1.xml" Id="Rdae859b650944b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40443703a1410e" /><Relationship Type="http://schemas.openxmlformats.org/officeDocument/2006/relationships/notesMaster" Target="/ppt/notesMasters/notesMaster1.xml" Id="Re2c2a2d28bce44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bd632b44744485" /><Relationship Type="http://schemas.openxmlformats.org/officeDocument/2006/relationships/notesMaster" Target="/ppt/notesMasters/notesMaster1.xml" Id="R5bde115ed6724b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04974ac35d4f41" /><Relationship Type="http://schemas.openxmlformats.org/officeDocument/2006/relationships/notesMaster" Target="/ppt/notesMasters/notesMaster1.xml" Id="R956821f052134a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91b3599c264ea0" /><Relationship Type="http://schemas.openxmlformats.org/officeDocument/2006/relationships/notesMaster" Target="/ppt/notesMasters/notesMaster1.xml" Id="R4f80d8efeb9249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e55b2ec99845dc" /><Relationship Type="http://schemas.openxmlformats.org/officeDocument/2006/relationships/notesMaster" Target="/ppt/notesMasters/notesMaster1.xml" Id="R44afcfd0fbc449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a8f4b1256a4eae" /><Relationship Type="http://schemas.openxmlformats.org/officeDocument/2006/relationships/notesMaster" Target="/ppt/notesMasters/notesMaster1.xml" Id="R221a3201a76c46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3419c64c4334f6e" /><Relationship Type="http://schemas.openxmlformats.org/officeDocument/2006/relationships/notesMaster" Target="/ppt/notesMasters/notesMaster1.xml" Id="Rd638047fab4f46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fe24763fd34327" /><Relationship Type="http://schemas.openxmlformats.org/officeDocument/2006/relationships/notesMaster" Target="/ppt/notesMasters/notesMaster1.xml" Id="R1472c2dccb7043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af4fcfd98e4c9f" /><Relationship Type="http://schemas.openxmlformats.org/officeDocument/2006/relationships/notesMaster" Target="/ppt/notesMasters/notesMaster1.xml" Id="R4ef193783c8d4e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7c33bbf23254926" /><Relationship Type="http://schemas.openxmlformats.org/officeDocument/2006/relationships/notesMaster" Target="/ppt/notesMasters/notesMaster1.xml" Id="R0e00f01f2d0d46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c80049a64d4a04" /><Relationship Type="http://schemas.openxmlformats.org/officeDocument/2006/relationships/notesMaster" Target="/ppt/notesMasters/notesMaster1.xml" Id="Rfb425641601f490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c81bfb4f49e4adc" /><Relationship Type="http://schemas.openxmlformats.org/officeDocument/2006/relationships/notesMaster" Target="/ppt/notesMasters/notesMaster1.xml" Id="Rd8cddff08aae42b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1d0ca3f51bb454b" /><Relationship Type="http://schemas.openxmlformats.org/officeDocument/2006/relationships/notesMaster" Target="/ppt/notesMasters/notesMaster1.xml" Id="Rb19690a37bca4fa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c56da1abe034fb9" /><Relationship Type="http://schemas.openxmlformats.org/officeDocument/2006/relationships/notesMaster" Target="/ppt/notesMasters/notesMaster1.xml" Id="Ra80ae9698e584be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848d70dc5bf46aa" /><Relationship Type="http://schemas.openxmlformats.org/officeDocument/2006/relationships/notesMaster" Target="/ppt/notesMasters/notesMaster1.xml" Id="R753b9b715c3a4ad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8ac379e2e494e6d" /><Relationship Type="http://schemas.openxmlformats.org/officeDocument/2006/relationships/notesMaster" Target="/ppt/notesMasters/notesMaster1.xml" Id="Rf893332d1763496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4c23f118f9c4693" /><Relationship Type="http://schemas.openxmlformats.org/officeDocument/2006/relationships/notesMaster" Target="/ppt/notesMasters/notesMaster1.xml" Id="R55c06a51423d4e2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bf32fa75760451c" /><Relationship Type="http://schemas.openxmlformats.org/officeDocument/2006/relationships/notesMaster" Target="/ppt/notesMasters/notesMaster1.xml" Id="R84b66d9e5c7a461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a058671ce70465f" /><Relationship Type="http://schemas.openxmlformats.org/officeDocument/2006/relationships/notesMaster" Target="/ppt/notesMasters/notesMaster1.xml" Id="R976d5420fc6e4d9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ee6063b8258417a" /><Relationship Type="http://schemas.openxmlformats.org/officeDocument/2006/relationships/notesMaster" Target="/ppt/notesMasters/notesMaster1.xml" Id="Rce2bb72065b44ce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c4f933201be4b82" /><Relationship Type="http://schemas.openxmlformats.org/officeDocument/2006/relationships/notesMaster" Target="/ppt/notesMasters/notesMaster1.xml" Id="R3c493003aefd417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2a25766d1d24747" /><Relationship Type="http://schemas.openxmlformats.org/officeDocument/2006/relationships/notesMaster" Target="/ppt/notesMasters/notesMaster1.xml" Id="Rcf5facd8b69044e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5c6baecc9e54df9" /><Relationship Type="http://schemas.openxmlformats.org/officeDocument/2006/relationships/notesMaster" Target="/ppt/notesMasters/notesMaster1.xml" Id="R3b81dead8969433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60b30bc6c1643fb" /><Relationship Type="http://schemas.openxmlformats.org/officeDocument/2006/relationships/notesMaster" Target="/ppt/notesMasters/notesMaster1.xml" Id="Rd98df4f2ab4b4d7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bca72d776034379" /><Relationship Type="http://schemas.openxmlformats.org/officeDocument/2006/relationships/notesMaster" Target="/ppt/notesMasters/notesMaster1.xml" Id="R9ca84d4985104b5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f2846e32d634332" /><Relationship Type="http://schemas.openxmlformats.org/officeDocument/2006/relationships/notesMaster" Target="/ppt/notesMasters/notesMaster1.xml" Id="R6baf7e11c3364fc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1d074961a81437e" /><Relationship Type="http://schemas.openxmlformats.org/officeDocument/2006/relationships/notesMaster" Target="/ppt/notesMasters/notesMaster1.xml" Id="Rb44ae54be6e84a7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248d553b9654230" /><Relationship Type="http://schemas.openxmlformats.org/officeDocument/2006/relationships/notesMaster" Target="/ppt/notesMasters/notesMaster1.xml" Id="Ra3bae798ded149d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12143991b0a4fea" /><Relationship Type="http://schemas.openxmlformats.org/officeDocument/2006/relationships/notesMaster" Target="/ppt/notesMasters/notesMaster1.xml" Id="R449c100f73794c5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1567f1c533c4d46" /><Relationship Type="http://schemas.openxmlformats.org/officeDocument/2006/relationships/notesMaster" Target="/ppt/notesMasters/notesMaster1.xml" Id="R16d06c5dbefb454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23e37bda0d6465d" /><Relationship Type="http://schemas.openxmlformats.org/officeDocument/2006/relationships/notesMaster" Target="/ppt/notesMasters/notesMaster1.xml" Id="R1c222085850740e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cf3e722073d4e34" /><Relationship Type="http://schemas.openxmlformats.org/officeDocument/2006/relationships/notesMaster" Target="/ppt/notesMasters/notesMaster1.xml" Id="R2225bcdd628c4c8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5b7705faa06492b" /><Relationship Type="http://schemas.openxmlformats.org/officeDocument/2006/relationships/notesMaster" Target="/ppt/notesMasters/notesMaster1.xml" Id="Rf0f27d5ae4bc4d8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7ea106a09254c3e" /><Relationship Type="http://schemas.openxmlformats.org/officeDocument/2006/relationships/notesMaster" Target="/ppt/notesMasters/notesMaster1.xml" Id="Rc772fda4c9c7487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68d50e05993475a" /><Relationship Type="http://schemas.openxmlformats.org/officeDocument/2006/relationships/notesMaster" Target="/ppt/notesMasters/notesMaster1.xml" Id="R732ab91cff03450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53e802b031f4689" /><Relationship Type="http://schemas.openxmlformats.org/officeDocument/2006/relationships/notesMaster" Target="/ppt/notesMasters/notesMaster1.xml" Id="R90caca6e0e9c4ef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1fe606682474e16" /><Relationship Type="http://schemas.openxmlformats.org/officeDocument/2006/relationships/notesMaster" Target="/ppt/notesMasters/notesMaster1.xml" Id="R5e292c344605478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2b5313c8e2b436c" /><Relationship Type="http://schemas.openxmlformats.org/officeDocument/2006/relationships/notesMaster" Target="/ppt/notesMasters/notesMaster1.xml" Id="R6bdcbd6d6f89493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8857ccfa42c420b" /><Relationship Type="http://schemas.openxmlformats.org/officeDocument/2006/relationships/notesMaster" Target="/ppt/notesMasters/notesMaster1.xml" Id="Ra9cc4aefb29f4dc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f4f9aaa9ca5469a" /><Relationship Type="http://schemas.openxmlformats.org/officeDocument/2006/relationships/notesMaster" Target="/ppt/notesMasters/notesMaster1.xml" Id="R12297fca07b641e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a1d4157ce7e451f" /><Relationship Type="http://schemas.openxmlformats.org/officeDocument/2006/relationships/notesMaster" Target="/ppt/notesMasters/notesMaster1.xml" Id="R74dfe44c19df48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https://cf-courses-data.s3.us.cloud-object-storage.appdomain.cloud/IBM-DS0321EN-SkillsNetwork/labs/module_5/ds-capstone-template-coursera.pptx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>Official course template artwork retained. No student identity or notebook repository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  <a:endParaRPr/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  <a:endParaRPr/>
          </a:p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Evidence: https://cf-courses-data.s3.us.cloud-object-storage.appdomain.cloud/IBM-DS0321EN-SkillsNetwork/datasets/dataset_part_2.csv</a:t>
            </a:r>
            <a:endParaRPr/>
          </a:p>
          <a:p xmlns:a="http://schemas.openxmlformats.org/drawingml/2006/main">
            <a:pPr marL="0" indent="0">
              <a:buNone/>
            </a:pPr>
            <a:r>
              <a:t>Retrieved 27 October 2026. Analysis reconstructed for this report from public course snapshots. No access to the learner's unshared notebooks.</a:t>
            </a:r>
            <a:endParaRPr/>
          </a:p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https://cf-courses-data.s3.us.cloud-object-storage.appdomain.cloud/IBM-DS0321EN-SkillsNetwork/labs/module_2/data/Spacex.csv</a:t>
            </a:r>
          </a:p>
          <a:p xmlns:a="http://schemas.openxmlformats.org/drawingml/2006/main">
            <a:r>
              <a:t>https://cf-courses-data.s3.us.cloud-object-storage.appdomain.cloud/IBM-DS0321EN-SkillsNetwork/datasets/spacex_launch_geo.csv</a:t>
            </a:r>
          </a:p>
          <a:p xmlns:a="http://schemas.openxmlformats.org/drawingml/2006/main">
            <a:r>
              <a:t>https://cf-courses-data.s3.us.cloud-object-storage.appdomain.cloud/IBM-DS0321EN-SkillsNetwork/datasets/spacex_launch_dash.csv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https://github.com/r-spacex/SpaceX-API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https://en.wikipedia.org/wiki/List_of_Falcon_9_and_Falcon_Heavy_launches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https://cf-courses-data.s3.us.cloud-object-storage.appdomain.cloud/IBM-DS0321EN-SkillsNetwork/labs/module_2/data/Spacex.csv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https://cf-courses-data.s3.us.cloud-object-storage.appdomain.cloud/IBM-DS0321EN-SkillsNetwork/datasets/spacex_launch_geo.csv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https://cf-courses-data.s3.us.cloud-object-storage.appdomain.cloud/IBM-DS0321EN-SkillsNetwork/datasets/spacex_launch_dash.csv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Evidence: https://cf-courses-data.s3.us.cloud-object-storage.appdomain.cloud/IBM-DS0321EN-SkillsNetwork/datasets/dataset_part_2.csv</a:t>
            </a:r>
            <a:endParaRPr/>
          </a:p>
          <a:p xmlns:a="http://schemas.openxmlformats.org/drawingml/2006/main">
            <a:pPr marL="0" indent="0">
              <a:buNone/>
            </a:pPr>
            <a:r>
              <a:t>Retrieved 27 October 2026. Analysis reconstructed for this report from public course snapshots. No access to the learner's unshared notebooks.</a:t>
            </a:r>
            <a:endParaRPr/>
          </a:p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https://cf-courses-data.s3.us.cloud-object-storage.appdomain.cloud/IBM-DS0321EN-SkillsNetwork/labs/module_2/data/Spacex.csv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>SELECT DISTINCT Launch_Site FROM launches ORDER BY Launch_Site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https://cf-courses-data.s3.us.cloud-object-storage.appdomain.cloud/IBM-DS0321EN-SkillsNetwork/labs/module_2/data/Spacex.csv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>SELECT Date,Booster_Version,Launch_Site FROM launches WHERE Launch_Site LIKE 'CCA%' ORDER BY Date LIMIT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https://cf-courses-data.s3.us.cloud-object-storage.appdomain.cloud/IBM-DS0321EN-SkillsNetwork/labs/module_2/data/Spacex.csv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>SELECT SUM(PAYLOAD_MASS__KG_) AS kg FROM launches WHERE Customer='NASA (CRS)'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https://cf-courses-data.s3.us.cloud-object-storage.appdomain.cloud/IBM-DS0321EN-SkillsNetwork/labs/module_2/data/Spacex.csv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>SELECT AVG(PAYLOAD_MASS__KG_) AS kg FROM launches WHERE Booster_Version LIKE 'F9 v1.1%'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https://cf-courses-data.s3.us.cloud-object-storage.appdomain.cloud/IBM-DS0321EN-SkillsNetwork/labs/module_2/data/Spacex.csv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>SELECT MIN(Date) AS Date FROM launches WHERE Landing_Outcome='Success (ground pad)'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https://cf-courses-data.s3.us.cloud-object-storage.appdomain.cloud/IBM-DS0321EN-SkillsNetwork/labs/module_2/data/Spacex.csv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>SELECT DISTINCT Booster_Version FROM launches WHERE Landing_Outcome='Success (drone ship)' AND PAYLOAD_MASS__KG_ &gt; 4000 AND PAYLOAD_MASS__KG_ &lt; 6000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https://cf-courses-data.s3.us.cloud-object-storage.appdomain.cloud/IBM-DS0321EN-SkillsNetwork/labs/module_2/data/Spacex.csv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>SELECT TRIM(Mission_Outcome) AS Mission_Outcome, COUNT(*) AS n FROM launches GROUP BY TRIM(Mission_Outcome)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https://cf-courses-data.s3.us.cloud-object-storage.appdomain.cloud/IBM-DS0321EN-SkillsNetwork/labs/module_2/data/Spacex.csv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>SELECT Booster_Version,PAYLOAD_MASS__KG_ FROM launches WHERE PAYLOAD_MASS__KG_=(SELECT MAX(PAYLOAD_MASS__KG_) FROM launches)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https://cf-courses-data.s3.us.cloud-object-storage.appdomain.cloud/IBM-DS0321EN-SkillsNetwork/labs/module_2/data/Spacex.csv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>SELECT Date,Booster_Version,Launch_Site FROM launches WHERE Date LIKE '2015%' AND Landing_Outcome='Failure (drone ship)'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https://cf-courses-data.s3.us.cloud-object-storage.appdomain.cloud/IBM-DS0321EN-SkillsNetwork/labs/module_2/data/Spacex.csv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>SELECT Landing_Outcome,COUNT(*) AS n FROM launches WHERE Date BETWEEN '2010-06-04' AND '2017-03-20' GROUP BY Landing_Outcome ORDER BY n DESC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https://cf-courses-data.s3.us.cloud-object-storage.appdomain.cloud/IBM-DS0321EN-SkillsNetwork/datasets/spacex_launch_geo.csv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>Course coordinates retained as provided, including the approximate KSC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https://cf-courses-data.s3.us.cloud-object-storage.appdomain.cloud/IBM-DS0321EN-SkillsNetwork/datasets/spacex_launch_geo.csv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>Course coordinates retained as provided, including the approximate KSC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https://cf-courses-data.s3.us.cloud-object-storage.appdomain.cloud/IBM-DS0321EN-SkillsNetwork/datasets/spacex_launch_geo.csv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>Haversine radius 6371 km. Pad (28.562302,-80.577356). Sample coastline (28.5637,-80.5679), road (28.5632,-80.5817), rail corridor (28.5720,-80.5865). No claim these are verified nearest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https://cf-courses-data.s3.us.cloud-object-storage.appdomain.cloud/IBM-DS0321EN-SkillsNetwork/datasets/spacex_launch_dash.csv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https://cf-courses-data.s3.us.cloud-object-storage.appdomain.cloud/IBM-DS0321EN-SkillsNetwork/datasets/spacex_launch_dash.csv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https://cf-courses-data.s3.us.cloud-object-storage.appdomain.cloud/IBM-DS0321EN-SkillsNetwork/datasets/spacex_launch_dash.csv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>[{"name":"Logistic regression","cv":0.8485714285714285,"cvstd":0.06348888880951988,"test":0.7777777777777778,"precision":0.75,"recall":1,"f1":0.8571428571428571,"cm":[[2,4],[0,12]],"params":{"model__C":0.1}},{"name":"SVM","cv":0.8885714285714286,"cvstd":0.06904597699196899,"test":0.7777777777777778,"precision":0.75,"recall":1,"f1":0.8571428571428571,"cm":[[2,4],[0,12]],"params":{"model__C":1,"model__gamma":"scale","model__kernel":"rbf"}},{"name":"Decision tree","cv":0.8457142857142858,"cvstd":0.0716251263884311,"test":0.8333333333333334,"precision":0.8,"recall":1,"f1":0.8888888888888888,"cm":[[3,3],[0,12]],"params":{"model__criterion":"gini","model__max_depth":3,"model__min_samples_leaf":4}},{"name":"KNN","cv":0.8895238095238096,"cvstd":0.09022018920220987,"test":0.7777777777777778,"precision":0.7857142857142857,"recall":0.9166666666666666,"f1":0.8461538461538461,"cm":[[3,3],[1,11]],"params":{"model__n_neighbors":3,"model__p":1,"model__weights":"distance"}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>Positive class = 1. Matrices use rows actual and columns predicted.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  <a:endParaRPr/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  <a:endParaRPr/>
          </a:p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https://cf-courses-data.s3.us.cloud-object-storage.appdomain.cloud/IBM-DS0321EN-SkillsNetwork/datasets/spacex_launch_geo.csv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https://cf-courses-data.s3.us.cloud-object-storage.appdomain.cloud/IBM-DS0321EN-SkillsNetwork/labs/module_2/data/Spacex.csv</a:t>
            </a:r>
          </a:p>
          <a:p xmlns:a="http://schemas.openxmlformats.org/drawingml/2006/main">
            <a:r>
              <a:t>https://cf-courses-data.s3.us.cloud-object-storage.appdomain.cloud/IBM-DS0321EN-SkillsNetwork/datasets/spacex_launch_geo.csv</a:t>
            </a:r>
          </a:p>
          <a:p xmlns:a="http://schemas.openxmlformats.org/drawingml/2006/main">
            <a:r>
              <a:t>https://cf-courses-data.s3.us.cloud-object-storage.appdomain.cloud/IBM-DS0321EN-SkillsNetwork/datasets/spacex_launch_dash.csv</a:t>
            </a:r>
          </a:p>
          <a:p xmlns:a="http://schemas.openxmlformats.org/drawingml/2006/main">
            <a:r>
              <a:t>https://cf-courses-data.s3.us.cloud-object-storage.appdomain.cloud/IBM-DS0321EN-SkillsNetwork/labs/module_5/ds-capstone-template-coursera.pptx</a:t>
            </a:r>
          </a:p>
          <a:p xmlns:a="http://schemas.openxmlformats.org/drawingml/2006/main">
            <a:r>
              <a:t>https://github.com/r-spacex/SpaceX-API</a:t>
            </a:r>
          </a:p>
          <a:p xmlns:a="http://schemas.openxmlformats.org/drawingml/2006/main">
            <a:r>
              <a:t>https://en.wikipedia.org/wiki/List_of_Falcon_9_and_Falcon_Heavy_launches</a:t>
            </a:r>
          </a:p>
          <a:p xmlns:a="http://schemas.openxmlformats.org/drawingml/2006/main">
            <a:r>
              <a:t>Retrieved 27 October 2026. Analysis reconstructed for this report from public course snapshots. No access to the learner's unshared notebooks.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96960ab19b43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c471f03d843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a1f22bc7d49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22f714e164c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de25117b44c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e0aa6ad8b452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072e6c14f2496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beb882544410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0ea53883b4d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6f6c8bf6943a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54d179652499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3d5bca25d4c8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b4f492476e423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0">
  <p:cSld name="1_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1ED0EE78-D348-456B-9697-140ECA534D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30CBDFC-DDD3-4813-A7F0-A89BAD37F4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a897f8dd6b4040" /><Relationship Type="http://schemas.openxmlformats.org/officeDocument/2006/relationships/slideLayout" Target="/ppt/slideLayouts/slideLayout1.xml" Id="Rd244a514d9e9422a" /><Relationship Type="http://schemas.openxmlformats.org/officeDocument/2006/relationships/slideLayout" Target="/ppt/slideLayouts/slideLayout2.xml" Id="R5bdaa3d85a564320" /><Relationship Type="http://schemas.openxmlformats.org/officeDocument/2006/relationships/slideLayout" Target="/ppt/slideLayouts/slideLayout3.xml" Id="R5fef494fabcb42a7" /><Relationship Type="http://schemas.openxmlformats.org/officeDocument/2006/relationships/slideLayout" Target="/ppt/slideLayouts/slideLayout4.xml" Id="R32bd6f8e376e4eaa" /><Relationship Type="http://schemas.openxmlformats.org/officeDocument/2006/relationships/slideLayout" Target="/ppt/slideLayouts/slideLayout5.xml" Id="R075a1b0c99a94927" /><Relationship Type="http://schemas.openxmlformats.org/officeDocument/2006/relationships/slideLayout" Target="/ppt/slideLayouts/slideLayout6.xml" Id="Recf6febcb9c14dec" /><Relationship Type="http://schemas.openxmlformats.org/officeDocument/2006/relationships/slideLayout" Target="/ppt/slideLayouts/slideLayout7.xml" Id="R70072948ff7549d7" /><Relationship Type="http://schemas.openxmlformats.org/officeDocument/2006/relationships/slideLayout" Target="/ppt/slideLayouts/slideLayout8.xml" Id="R6d145946e56d41b7" /><Relationship Type="http://schemas.openxmlformats.org/officeDocument/2006/relationships/slideLayout" Target="/ppt/slideLayouts/slideLayout9.xml" Id="R694526b59d0d4654" /><Relationship Type="http://schemas.openxmlformats.org/officeDocument/2006/relationships/slideLayout" Target="/ppt/slideLayouts/slideLayout10.xml" Id="R21a63bc9f03543b1" /><Relationship Type="http://schemas.openxmlformats.org/officeDocument/2006/relationships/slideLayout" Target="/ppt/slideLayouts/slideLayout11.xml" Id="R91cf7fd96ab84dd9" /><Relationship Type="http://schemas.openxmlformats.org/officeDocument/2006/relationships/slideLayout" Target="/ppt/slideLayouts/slideLayout12.xml" Id="Rac62e7169abb4bcc" /><Relationship Type="http://schemas.openxmlformats.org/officeDocument/2006/relationships/slideLayout" Target="/ppt/slideLayouts/slideLayout13.xml" Id="R04c791511346436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14772" y="6025573"/>
            <a:ext cx="2743200" cy="4016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60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44a514d9e9422a"/>
    <p:sldLayoutId xmlns:r="http://schemas.openxmlformats.org/officeDocument/2006/relationships" id="2147483650" r:id="R5bdaa3d85a564320"/>
    <p:sldLayoutId xmlns:r="http://schemas.openxmlformats.org/officeDocument/2006/relationships" id="2147483651" r:id="R5fef494fabcb42a7"/>
    <p:sldLayoutId xmlns:r="http://schemas.openxmlformats.org/officeDocument/2006/relationships" id="2147483652" r:id="R32bd6f8e376e4eaa"/>
    <p:sldLayoutId xmlns:r="http://schemas.openxmlformats.org/officeDocument/2006/relationships" id="2147483653" r:id="R075a1b0c99a94927"/>
    <p:sldLayoutId xmlns:r="http://schemas.openxmlformats.org/officeDocument/2006/relationships" id="2147483654" r:id="Recf6febcb9c14dec"/>
    <p:sldLayoutId xmlns:r="http://schemas.openxmlformats.org/officeDocument/2006/relationships" id="2147483655" r:id="R70072948ff7549d7"/>
    <p:sldLayoutId xmlns:r="http://schemas.openxmlformats.org/officeDocument/2006/relationships" id="2147483656" r:id="R6d145946e56d41b7"/>
    <p:sldLayoutId xmlns:r="http://schemas.openxmlformats.org/officeDocument/2006/relationships" id="2147483657" r:id="R694526b59d0d4654"/>
    <p:sldLayoutId xmlns:r="http://schemas.openxmlformats.org/officeDocument/2006/relationships" id="2147483658" r:id="R21a63bc9f03543b1"/>
    <p:sldLayoutId xmlns:r="http://schemas.openxmlformats.org/officeDocument/2006/relationships" id="2147483659" r:id="R91cf7fd96ab84dd9"/>
    <p:sldLayoutId xmlns:r="http://schemas.openxmlformats.org/officeDocument/2006/relationships" id="2147483660" r:id="Rac62e7169abb4bcc"/>
    <p:sldLayoutId xmlns:r="http://schemas.openxmlformats.org/officeDocument/2006/relationships" id="2147483661" r:id="R04c791511346436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be8fe23acaf4618" /><Relationship Type="http://schemas.openxmlformats.org/officeDocument/2006/relationships/image" Target="/ppt/media/image.jpeg" Id="Rb233ae0bdc4a4b32" /><Relationship Type="http://schemas.openxmlformats.org/officeDocument/2006/relationships/image" Target="/ppt/media/image.png" Id="Rcafef33bc7144f91" /><Relationship Type="http://schemas.openxmlformats.org/officeDocument/2006/relationships/notesSlide" Target="/ppt/notesSlides/notesSlide1.xml" Id="Rf7fa6a2e2cfc46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61ed2d49f42b5" /><Relationship Type="http://schemas.openxmlformats.org/officeDocument/2006/relationships/image" Target="/ppt/media/image2.png" Id="Rf1a0ef72adea4c19" /><Relationship Type="http://schemas.openxmlformats.org/officeDocument/2006/relationships/notesSlide" Target="/ppt/notesSlides/notesSlide2.xml" Id="R2c8b5fb0a27049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5b11fa31f4c92" /><Relationship Type="http://schemas.openxmlformats.org/officeDocument/2006/relationships/image" Target="/ppt/media/image2.png" Id="R9ac713506ffa438d" /><Relationship Type="http://schemas.openxmlformats.org/officeDocument/2006/relationships/notesSlide" Target="/ppt/notesSlides/notesSlide3.xml" Id="Re0fa649377ce46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f944923c84b30" /><Relationship Type="http://schemas.openxmlformats.org/officeDocument/2006/relationships/image" Target="/ppt/media/image2.png" Id="R211d440e7dd94b75" /><Relationship Type="http://schemas.openxmlformats.org/officeDocument/2006/relationships/notesSlide" Target="/ppt/notesSlides/notesSlide4.xml" Id="Rf117965976c249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6ffba6225a4f01" /><Relationship Type="http://schemas.openxmlformats.org/officeDocument/2006/relationships/image" Target="/ppt/media/image2.jpeg" Id="R2af37e6699674442" /><Relationship Type="http://schemas.openxmlformats.org/officeDocument/2006/relationships/notesSlide" Target="/ppt/notesSlides/notesSlide5.xml" Id="Rca62a1907a2246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6db20c03c422f" /><Relationship Type="http://schemas.openxmlformats.org/officeDocument/2006/relationships/image" Target="/ppt/media/image2.png" Id="Re63c4c4f9b71473c" /><Relationship Type="http://schemas.openxmlformats.org/officeDocument/2006/relationships/notesSlide" Target="/ppt/notesSlides/notesSlide6.xml" Id="Rf8abe693567e47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e1d3ec74a4d1a" /><Relationship Type="http://schemas.openxmlformats.org/officeDocument/2006/relationships/image" Target="/ppt/media/image2.png" Id="R701caa4411e24b0e" /><Relationship Type="http://schemas.openxmlformats.org/officeDocument/2006/relationships/notesSlide" Target="/ppt/notesSlides/notesSlide7.xml" Id="Ra19ebafc9df945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360f8d6d24972" /><Relationship Type="http://schemas.openxmlformats.org/officeDocument/2006/relationships/image" Target="/ppt/media/image2.png" Id="R43db7e7b34994647" /><Relationship Type="http://schemas.openxmlformats.org/officeDocument/2006/relationships/notesSlide" Target="/ppt/notesSlides/notesSlide8.xml" Id="R406afa2954af4a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49ef2ceb74812" /><Relationship Type="http://schemas.openxmlformats.org/officeDocument/2006/relationships/image" Target="/ppt/media/image2.png" Id="Rdf4dce68da2e4e7e" /><Relationship Type="http://schemas.openxmlformats.org/officeDocument/2006/relationships/notesSlide" Target="/ppt/notesSlides/notesSlide9.xml" Id="Re29134fc2cc04a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07eb5b34c4cda" /><Relationship Type="http://schemas.openxmlformats.org/officeDocument/2006/relationships/image" Target="/ppt/media/image2.png" Id="R5dc239f2ca0f4deb" /><Relationship Type="http://schemas.openxmlformats.org/officeDocument/2006/relationships/notesSlide" Target="/ppt/notesSlides/notesSlide10.xml" Id="R8808b9c0f1784c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5b3c2a06640f8" /><Relationship Type="http://schemas.openxmlformats.org/officeDocument/2006/relationships/image" Target="/ppt/media/image2.png" Id="Reaabdbb0a37c4600" /><Relationship Type="http://schemas.openxmlformats.org/officeDocument/2006/relationships/notesSlide" Target="/ppt/notesSlides/notesSlide11.xml" Id="Rda131c7903ff4d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7cf35e2c54a1f" /><Relationship Type="http://schemas.openxmlformats.org/officeDocument/2006/relationships/image" Target="/ppt/media/image2.png" Id="R2c3f076070b94b8b" /><Relationship Type="http://schemas.openxmlformats.org/officeDocument/2006/relationships/notesSlide" Target="/ppt/notesSlides/notesSlide12.xml" Id="R2cdcd5ed51a841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1f6136c57439a" /><Relationship Type="http://schemas.openxmlformats.org/officeDocument/2006/relationships/image" Target="/ppt/media/image2.png" Id="Redc6062401d44d00" /><Relationship Type="http://schemas.openxmlformats.org/officeDocument/2006/relationships/notesSlide" Target="/ppt/notesSlides/notesSlide13.xml" Id="R3fe2d393155f4e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db9cced7d4d0e" /><Relationship Type="http://schemas.openxmlformats.org/officeDocument/2006/relationships/image" Target="/ppt/media/image2.png" Id="R8398dbdfbfc446d1" /><Relationship Type="http://schemas.openxmlformats.org/officeDocument/2006/relationships/notesSlide" Target="/ppt/notesSlides/notesSlide14.xml" Id="R3f3b247f445c47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896dd22aa48f2" /><Relationship Type="http://schemas.openxmlformats.org/officeDocument/2006/relationships/image" Target="/ppt/media/image2.png" Id="Rcfbdfb7bb438427e" /><Relationship Type="http://schemas.openxmlformats.org/officeDocument/2006/relationships/notesSlide" Target="/ppt/notesSlides/notesSlide15.xml" Id="Ra597ef4c302f42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d2e4b8f584855" /><Relationship Type="http://schemas.openxmlformats.org/officeDocument/2006/relationships/image" Target="/ppt/media/image2.png" Id="Ra7b506ea00084432" /><Relationship Type="http://schemas.openxmlformats.org/officeDocument/2006/relationships/notesSlide" Target="/ppt/notesSlides/notesSlide16.xml" Id="Rbb56aa11c1604e9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8c08079d94d00" /><Relationship Type="http://schemas.openxmlformats.org/officeDocument/2006/relationships/image" Target="/ppt/media/image3.png" Id="R58efa49ac27c472b" /><Relationship Type="http://schemas.openxmlformats.org/officeDocument/2006/relationships/notesSlide" Target="/ppt/notesSlides/notesSlide17.xml" Id="Rfa3bbbdd0cbb44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0bb73fa1b4f04" /><Relationship Type="http://schemas.openxmlformats.org/officeDocument/2006/relationships/image" Target="/ppt/media/image2.png" Id="R7ba52cd3cd62427e" /><Relationship Type="http://schemas.openxmlformats.org/officeDocument/2006/relationships/chart" Target="/ppt/slides/charts/chart1.xml" Id="R770ba96dba794879" /><Relationship Type="http://schemas.openxmlformats.org/officeDocument/2006/relationships/notesSlide" Target="/ppt/notesSlides/notesSlide18.xml" Id="R1fc5a66213f641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f6be6fed049c6" /><Relationship Type="http://schemas.openxmlformats.org/officeDocument/2006/relationships/image" Target="/ppt/media/image2.png" Id="Rbb8c5df9bbda4b26" /><Relationship Type="http://schemas.openxmlformats.org/officeDocument/2006/relationships/chart" Target="/ppt/slides/charts/chart2.xml" Id="R2610e64fb9c44a42" /><Relationship Type="http://schemas.openxmlformats.org/officeDocument/2006/relationships/notesSlide" Target="/ppt/notesSlides/notesSlide19.xml" Id="Rc7cbacb0c7ef42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18021b4384008" /><Relationship Type="http://schemas.openxmlformats.org/officeDocument/2006/relationships/image" Target="/ppt/media/image2.png" Id="Rb7bd0de924b543c7" /><Relationship Type="http://schemas.openxmlformats.org/officeDocument/2006/relationships/chart" Target="/ppt/slides/charts/chart3.xml" Id="R32987c8a0ba94632" /><Relationship Type="http://schemas.openxmlformats.org/officeDocument/2006/relationships/notesSlide" Target="/ppt/notesSlides/notesSlide20.xml" Id="Rcb05ddaed6da43e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39427c14a4c1b" /><Relationship Type="http://schemas.openxmlformats.org/officeDocument/2006/relationships/image" Target="/ppt/media/image2.png" Id="Rd691728737e14257" /><Relationship Type="http://schemas.openxmlformats.org/officeDocument/2006/relationships/chart" Target="/ppt/slides/charts/chart4.xml" Id="Ra00b11998e61479c" /><Relationship Type="http://schemas.openxmlformats.org/officeDocument/2006/relationships/notesSlide" Target="/ppt/notesSlides/notesSlide21.xml" Id="R4014b44f729e404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e7c864a0a4466" /><Relationship Type="http://schemas.openxmlformats.org/officeDocument/2006/relationships/image" Target="/ppt/media/image2.png" Id="R25445c4de5424ece" /><Relationship Type="http://schemas.openxmlformats.org/officeDocument/2006/relationships/chart" Target="/ppt/slides/charts/chart5.xml" Id="R11ce253d5131452c" /><Relationship Type="http://schemas.openxmlformats.org/officeDocument/2006/relationships/notesSlide" Target="/ppt/notesSlides/notesSlide22.xml" Id="R39dde1b214d44f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a71e9308a43d0" /><Relationship Type="http://schemas.openxmlformats.org/officeDocument/2006/relationships/image" Target="/ppt/media/image2.png" Id="Rd2f7862cb0b54054" /><Relationship Type="http://schemas.openxmlformats.org/officeDocument/2006/relationships/chart" Target="/ppt/slides/charts/chart6.xml" Id="R148bc1594b734766" /><Relationship Type="http://schemas.openxmlformats.org/officeDocument/2006/relationships/notesSlide" Target="/ppt/notesSlides/notesSlide23.xml" Id="Rd88e8a7348294c8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089e7889846d5" /><Relationship Type="http://schemas.openxmlformats.org/officeDocument/2006/relationships/image" Target="/ppt/media/image2.png" Id="R40fdbdaa94414118" /><Relationship Type="http://schemas.openxmlformats.org/officeDocument/2006/relationships/notesSlide" Target="/ppt/notesSlides/notesSlide24.xml" Id="R13dfe28c1d214e9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e5145a22149e7" /><Relationship Type="http://schemas.openxmlformats.org/officeDocument/2006/relationships/image" Target="/ppt/media/image2.png" Id="Rcf3669775952407f" /><Relationship Type="http://schemas.openxmlformats.org/officeDocument/2006/relationships/notesSlide" Target="/ppt/notesSlides/notesSlide25.xml" Id="R6d1a7e231b2d416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2a5023d2742ae" /><Relationship Type="http://schemas.openxmlformats.org/officeDocument/2006/relationships/image" Target="/ppt/media/image2.png" Id="Rd72ac883b86949f5" /><Relationship Type="http://schemas.openxmlformats.org/officeDocument/2006/relationships/notesSlide" Target="/ppt/notesSlides/notesSlide26.xml" Id="R9df15f534485457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24e16c5ef4fbf" /><Relationship Type="http://schemas.openxmlformats.org/officeDocument/2006/relationships/image" Target="/ppt/media/image2.png" Id="Rb5b047e42e4d4cfc" /><Relationship Type="http://schemas.openxmlformats.org/officeDocument/2006/relationships/notesSlide" Target="/ppt/notesSlides/notesSlide27.xml" Id="R57ffc087d6f74f2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c5d040a92490b" /><Relationship Type="http://schemas.openxmlformats.org/officeDocument/2006/relationships/image" Target="/ppt/media/image2.png" Id="Rc0059e9db2164e90" /><Relationship Type="http://schemas.openxmlformats.org/officeDocument/2006/relationships/notesSlide" Target="/ppt/notesSlides/notesSlide28.xml" Id="R63c4d1aa013348d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e15a2de5c4877" /><Relationship Type="http://schemas.openxmlformats.org/officeDocument/2006/relationships/image" Target="/ppt/media/image2.png" Id="Rc1706d3d80f6485c" /><Relationship Type="http://schemas.openxmlformats.org/officeDocument/2006/relationships/notesSlide" Target="/ppt/notesSlides/notesSlide29.xml" Id="Rd415146f5ebb4e5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dcfd2b48f4871" /><Relationship Type="http://schemas.openxmlformats.org/officeDocument/2006/relationships/image" Target="/ppt/media/image2.png" Id="R2e7a2c837bcf48fb" /><Relationship Type="http://schemas.openxmlformats.org/officeDocument/2006/relationships/notesSlide" Target="/ppt/notesSlides/notesSlide30.xml" Id="R8fdc044a86be466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5cc20848b4130" /><Relationship Type="http://schemas.openxmlformats.org/officeDocument/2006/relationships/image" Target="/ppt/media/image2.png" Id="R8735aff5c26945f9" /><Relationship Type="http://schemas.openxmlformats.org/officeDocument/2006/relationships/notesSlide" Target="/ppt/notesSlides/notesSlide31.xml" Id="Ra0f0bc2a124646a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d82fd8a6645b9" /><Relationship Type="http://schemas.openxmlformats.org/officeDocument/2006/relationships/image" Target="/ppt/media/image2.png" Id="Re9e8423053394f5d" /><Relationship Type="http://schemas.openxmlformats.org/officeDocument/2006/relationships/notesSlide" Target="/ppt/notesSlides/notesSlide32.xml" Id="R5709864a608e430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38a7e0d944893" /><Relationship Type="http://schemas.openxmlformats.org/officeDocument/2006/relationships/image" Target="/ppt/media/image2.png" Id="Ra1cb2d2f37be4699" /><Relationship Type="http://schemas.openxmlformats.org/officeDocument/2006/relationships/notesSlide" Target="/ppt/notesSlides/notesSlide33.xml" Id="R86f6852e8f7b4e5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34107c92d4fd2" /><Relationship Type="http://schemas.openxmlformats.org/officeDocument/2006/relationships/image" Target="/ppt/media/image4.png" Id="Ra4801b196c984d8c" /><Relationship Type="http://schemas.openxmlformats.org/officeDocument/2006/relationships/notesSlide" Target="/ppt/notesSlides/notesSlide34.xml" Id="R9e73a564cb1a44a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efd9b15bf4d98" /><Relationship Type="http://schemas.openxmlformats.org/officeDocument/2006/relationships/image" Target="/ppt/media/image2.png" Id="R0eb79e873d244a95" /><Relationship Type="http://schemas.openxmlformats.org/officeDocument/2006/relationships/image" Target="/ppt/media/image5.png" Id="R20cdd0f6067741a3" /><Relationship Type="http://schemas.openxmlformats.org/officeDocument/2006/relationships/notesSlide" Target="/ppt/notesSlides/notesSlide35.xml" Id="Rfa326f4f5e81458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93ff323e0479d" /><Relationship Type="http://schemas.openxmlformats.org/officeDocument/2006/relationships/image" Target="/ppt/media/image2.png" Id="R3f3e94da2adc425b" /><Relationship Type="http://schemas.openxmlformats.org/officeDocument/2006/relationships/image" Target="/ppt/media/image6.png" Id="Rf4a289ff59af4f4e" /><Relationship Type="http://schemas.openxmlformats.org/officeDocument/2006/relationships/notesSlide" Target="/ppt/notesSlides/notesSlide36.xml" Id="R4a82b6a5870b44f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eb6dccb9f48ce" /><Relationship Type="http://schemas.openxmlformats.org/officeDocument/2006/relationships/image" Target="/ppt/media/image2.png" Id="R501fe1a6d0234e34" /><Relationship Type="http://schemas.openxmlformats.org/officeDocument/2006/relationships/image" Target="/ppt/media/image7.png" Id="Rf7a75dc0c06344f7" /><Relationship Type="http://schemas.openxmlformats.org/officeDocument/2006/relationships/notesSlide" Target="/ppt/notesSlides/notesSlide37.xml" Id="Rbff079478e604fb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d01204b184e54" /><Relationship Type="http://schemas.openxmlformats.org/officeDocument/2006/relationships/image" Target="/ppt/media/image3.jpeg" Id="Rf13e251880d94c34" /><Relationship Type="http://schemas.openxmlformats.org/officeDocument/2006/relationships/notesSlide" Target="/ppt/notesSlides/notesSlide38.xml" Id="R4b1ecaafad824d8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f443bb4b04d90" /><Relationship Type="http://schemas.openxmlformats.org/officeDocument/2006/relationships/image" Target="/ppt/media/image2.png" Id="R6df409ad65ec4fec" /><Relationship Type="http://schemas.openxmlformats.org/officeDocument/2006/relationships/image" Target="/ppt/media/image8.png" Id="Rfc66a7739206411a" /><Relationship Type="http://schemas.openxmlformats.org/officeDocument/2006/relationships/notesSlide" Target="/ppt/notesSlides/notesSlide39.xml" Id="R6d0697ad79644da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6279cbe0c47a0" /><Relationship Type="http://schemas.openxmlformats.org/officeDocument/2006/relationships/image" Target="/ppt/media/image2.png" Id="Rff7eae1dd4754364" /><Relationship Type="http://schemas.openxmlformats.org/officeDocument/2006/relationships/image" Target="/ppt/media/image9.png" Id="Rc1d56e61aac145db" /><Relationship Type="http://schemas.openxmlformats.org/officeDocument/2006/relationships/notesSlide" Target="/ppt/notesSlides/notesSlide40.xml" Id="R67bdfe295f4e4f2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a52d9a4494d38" /><Relationship Type="http://schemas.openxmlformats.org/officeDocument/2006/relationships/image" Target="/ppt/media/image2.png" Id="R24d6e83ed8bd4226" /><Relationship Type="http://schemas.openxmlformats.org/officeDocument/2006/relationships/image" Target="/ppt/media/image10.png" Id="R135ad21739504caf" /><Relationship Type="http://schemas.openxmlformats.org/officeDocument/2006/relationships/notesSlide" Target="/ppt/notesSlides/notesSlide41.xml" Id="Rd434a2c7ba66464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068c9790649f5" /><Relationship Type="http://schemas.openxmlformats.org/officeDocument/2006/relationships/image" Target="/ppt/media/image4.jpeg" Id="R21cc3f1f50164c26" /><Relationship Type="http://schemas.openxmlformats.org/officeDocument/2006/relationships/notesSlide" Target="/ppt/notesSlides/notesSlide42.xml" Id="Rff3606241a3549c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cc431685d456c" /><Relationship Type="http://schemas.openxmlformats.org/officeDocument/2006/relationships/image" Target="/ppt/media/image2.png" Id="Rc424c480992849e9" /><Relationship Type="http://schemas.openxmlformats.org/officeDocument/2006/relationships/chart" Target="/ppt/slides/charts/chart7.xml" Id="Rb6253291df7b4b90" /><Relationship Type="http://schemas.openxmlformats.org/officeDocument/2006/relationships/notesSlide" Target="/ppt/notesSlides/notesSlide43.xml" Id="R09f9cf32ba19489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0b0b042994b78" /><Relationship Type="http://schemas.openxmlformats.org/officeDocument/2006/relationships/image" Target="/ppt/media/image2.png" Id="R034b2ec8d5504219" /><Relationship Type="http://schemas.openxmlformats.org/officeDocument/2006/relationships/notesSlide" Target="/ppt/notesSlides/notesSlide44.xml" Id="Rd5b6c4a6f502441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eed14bdb44285" /><Relationship Type="http://schemas.openxmlformats.org/officeDocument/2006/relationships/image" Target="/ppt/media/image2.png" Id="R7351cbf879ed4041" /><Relationship Type="http://schemas.openxmlformats.org/officeDocument/2006/relationships/notesSlide" Target="/ppt/notesSlides/notesSlide45.xml" Id="Rce7757f15d7d427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c5e667bcb436c" /><Relationship Type="http://schemas.openxmlformats.org/officeDocument/2006/relationships/image" Target="/ppt/media/image2.png" Id="R8cbf150d37c640ec" /><Relationship Type="http://schemas.openxmlformats.org/officeDocument/2006/relationships/notesSlide" Target="/ppt/notesSlides/notesSlide46.xml" Id="Rdbcceb9130a9452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9e5cb656e14d64" /><Relationship Type="http://schemas.openxmlformats.org/officeDocument/2006/relationships/notesSlide" Target="/ppt/notesSlides/notesSlide47.xml" Id="R3a9d853bd32646a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ac8c8ce8e64663" /><Relationship Type="http://schemas.openxmlformats.org/officeDocument/2006/relationships/notesSlide" Target="/ppt/notesSlides/notesSlide48.xml" Id="R7923e877e1a441c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672c08344c4745" /><Relationship Type="http://schemas.openxmlformats.org/officeDocument/2006/relationships/notesSlide" Target="/ppt/notesSlides/notesSlide49.xml" Id="R5c2b994df8654d0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73b4b43fd17413e" /><Relationship Type="http://schemas.openxmlformats.org/officeDocument/2006/relationships/image" Target="/ppt/media/image5.jpeg" Id="R7a709d9457ec4b19" /><Relationship Type="http://schemas.openxmlformats.org/officeDocument/2006/relationships/notesSlide" Target="/ppt/notesSlides/notesSlide50.xml" Id="R4286474a578f4fc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latin typeface="Liberation Sans"/>
                <a:ea typeface="Liberation Sans"/>
                <a:cs typeface="Liberation Sans"/>
              </a:rPr>
              <a:t>Flight Number vs. Launch Site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Liberation Sans"/>
              <a:ea typeface="Liberation Sans"/>
              <a:cs typeface="Liberation Sans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Class 0</c:v>
          </c:tx>
          <c:spPr>
            <a:ln xmlns:a="http://schemas.openxmlformats.org/drawingml/2006/main" w="0">
              <a:noFill/>
            </a:ln>
          </c:spPr>
          <c:marker>
            <c:symbol val="x"/>
            <c:size val="7"/>
            <c:spPr>
              <a:solidFill xmlns:a="http://schemas.openxmlformats.org/drawingml/2006/main">
                <a:srgbClr val="BD3A32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18</c:v>
                </c:pt>
                <c:pt idx="14">
                  <c:v>19</c:v>
                </c:pt>
                <c:pt idx="15">
                  <c:v>25</c:v>
                </c:pt>
                <c:pt idx="16">
                  <c:v>28</c:v>
                </c:pt>
                <c:pt idx="17">
                  <c:v>31</c:v>
                </c:pt>
                <c:pt idx="18">
                  <c:v>35</c:v>
                </c:pt>
                <c:pt idx="19">
                  <c:v>46</c:v>
                </c:pt>
                <c:pt idx="20">
                  <c:v>47</c:v>
                </c:pt>
                <c:pt idx="21">
                  <c:v>48</c:v>
                </c:pt>
                <c:pt idx="22">
                  <c:v>51</c:v>
                </c:pt>
                <c:pt idx="23">
                  <c:v>52</c:v>
                </c:pt>
                <c:pt idx="24">
                  <c:v>60</c:v>
                </c:pt>
                <c:pt idx="25">
                  <c:v>61</c:v>
                </c:pt>
                <c:pt idx="26">
                  <c:v>68</c:v>
                </c:pt>
                <c:pt idx="27">
                  <c:v>73</c:v>
                </c:pt>
                <c:pt idx="28">
                  <c:v>75</c:v>
                </c:pt>
                <c:pt idx="29">
                  <c:v>77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3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1</c:v>
                </c:pt>
                <c:pt idx="20">
                  <c:v>3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2</c:v>
                </c:pt>
              </c:numCache>
            </c:numRef>
          </c:yVal>
        </c:ser>
        <c:ser>
          <c:idx val="1"/>
          <c:order val="1"/>
          <c:tx>
            <c:v>Class 1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157E62"/>
              </a:solidFill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7</c:v>
                </c:pt>
                <c:pt idx="1">
                  <c:v>8</c:v>
                </c:pt>
                <c:pt idx="2">
                  <c:v>13</c:v>
                </c:pt>
                <c:pt idx="3">
                  <c:v>17</c:v>
                </c:pt>
                <c:pt idx="4">
                  <c:v>20</c:v>
                </c:pt>
                <c:pt idx="5">
                  <c:v>21</c:v>
                </c:pt>
                <c:pt idx="6">
                  <c:v>22</c:v>
                </c:pt>
                <c:pt idx="7">
                  <c:v>23</c:v>
                </c:pt>
                <c:pt idx="8">
                  <c:v>24</c:v>
                </c:pt>
                <c:pt idx="9">
                  <c:v>26</c:v>
                </c:pt>
                <c:pt idx="10">
                  <c:v>27</c:v>
                </c:pt>
                <c:pt idx="11">
                  <c:v>29</c:v>
                </c:pt>
                <c:pt idx="12">
                  <c:v>30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36</c:v>
                </c:pt>
                <c:pt idx="17">
                  <c:v>37</c:v>
                </c:pt>
                <c:pt idx="18">
                  <c:v>38</c:v>
                </c:pt>
                <c:pt idx="19">
                  <c:v>39</c:v>
                </c:pt>
                <c:pt idx="20">
                  <c:v>40</c:v>
                </c:pt>
                <c:pt idx="21">
                  <c:v>41</c:v>
                </c:pt>
                <c:pt idx="22">
                  <c:v>42</c:v>
                </c:pt>
                <c:pt idx="23">
                  <c:v>43</c:v>
                </c:pt>
                <c:pt idx="24">
                  <c:v>44</c:v>
                </c:pt>
                <c:pt idx="25">
                  <c:v>45</c:v>
                </c:pt>
                <c:pt idx="26">
                  <c:v>49</c:v>
                </c:pt>
                <c:pt idx="27">
                  <c:v>50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62</c:v>
                </c:pt>
                <c:pt idx="36">
                  <c:v>63</c:v>
                </c:pt>
                <c:pt idx="37">
                  <c:v>64</c:v>
                </c:pt>
                <c:pt idx="38">
                  <c:v>65</c:v>
                </c:pt>
                <c:pt idx="39">
                  <c:v>66</c:v>
                </c:pt>
                <c:pt idx="40">
                  <c:v>67</c:v>
                </c:pt>
                <c:pt idx="41">
                  <c:v>69</c:v>
                </c:pt>
                <c:pt idx="42">
                  <c:v>70</c:v>
                </c:pt>
                <c:pt idx="43">
                  <c:v>71</c:v>
                </c:pt>
                <c:pt idx="44">
                  <c:v>72</c:v>
                </c:pt>
                <c:pt idx="45">
                  <c:v>74</c:v>
                </c:pt>
                <c:pt idx="46">
                  <c:v>76</c:v>
                </c:pt>
                <c:pt idx="47">
                  <c:v>78</c:v>
                </c:pt>
                <c:pt idx="48">
                  <c:v>79</c:v>
                </c:pt>
                <c:pt idx="49">
                  <c:v>80</c:v>
                </c:pt>
                <c:pt idx="50">
                  <c:v>81</c:v>
                </c:pt>
                <c:pt idx="51">
                  <c:v>82</c:v>
                </c:pt>
                <c:pt idx="52">
                  <c:v>83</c:v>
                </c:pt>
                <c:pt idx="53">
                  <c:v>84</c:v>
                </c:pt>
                <c:pt idx="54">
                  <c:v>85</c:v>
                </c:pt>
                <c:pt idx="55">
                  <c:v>86</c:v>
                </c:pt>
                <c:pt idx="56">
                  <c:v>87</c:v>
                </c:pt>
                <c:pt idx="57">
                  <c:v>88</c:v>
                </c:pt>
                <c:pt idx="58">
                  <c:v>89</c:v>
                </c:pt>
                <c:pt idx="59">
                  <c:v>90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3</c:v>
                </c:pt>
                <c:pt idx="16">
                  <c:v>2</c:v>
                </c:pt>
                <c:pt idx="17">
                  <c:v>3</c:v>
                </c:pt>
                <c:pt idx="18">
                  <c:v>2</c:v>
                </c:pt>
                <c:pt idx="19">
                  <c:v>3</c:v>
                </c:pt>
                <c:pt idx="20">
                  <c:v>2</c:v>
                </c:pt>
                <c:pt idx="21">
                  <c:v>2</c:v>
                </c:pt>
                <c:pt idx="22">
                  <c:v>1</c:v>
                </c:pt>
                <c:pt idx="23">
                  <c:v>3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3</c:v>
                </c:pt>
                <c:pt idx="30">
                  <c:v>1</c:v>
                </c:pt>
                <c:pt idx="31">
                  <c:v>1</c:v>
                </c:pt>
                <c:pt idx="32">
                  <c:v>3</c:v>
                </c:pt>
                <c:pt idx="33">
                  <c:v>2</c:v>
                </c:pt>
                <c:pt idx="34">
                  <c:v>3</c:v>
                </c:pt>
                <c:pt idx="35">
                  <c:v>3</c:v>
                </c:pt>
                <c:pt idx="36">
                  <c:v>2</c:v>
                </c:pt>
                <c:pt idx="37">
                  <c:v>1</c:v>
                </c:pt>
                <c:pt idx="38">
                  <c:v>1</c:v>
                </c:pt>
                <c:pt idx="39">
                  <c:v>3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2</c:v>
                </c:pt>
                <c:pt idx="48">
                  <c:v>2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1</c:v>
                </c:pt>
                <c:pt idx="59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Liberation Sans"/>
                    <a:ea typeface="Liberation Sans"/>
                    <a:cs typeface="Liberation Sans"/>
                  </a:rPr>
                  <a:t>Category code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Liberation Sans"/>
                    <a:ea typeface="Liberation Sans"/>
                    <a:cs typeface="Liberation Sans"/>
                  </a:rPr>
                  <a:t>Flight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valAx>
      <c:spPr>
        <a:solidFill xmlns:a="http://schemas.openxmlformats.org/drawingml/2006/main">
          <a:srgbClr val="F5F5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solidFill xmlns:a="http://schemas.openxmlformats.org/drawingml/2006/main">
      <a:srgbClr val="F5F5F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latin typeface="Liberation Sans"/>
                <a:ea typeface="Liberation Sans"/>
                <a:cs typeface="Liberation Sans"/>
              </a:rPr>
              <a:t>Payload vs. Launch Site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Liberation Sans"/>
              <a:ea typeface="Liberation Sans"/>
              <a:cs typeface="Liberation Sans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Class 0</c:v>
          </c:tx>
          <c:spPr>
            <a:ln xmlns:a="http://schemas.openxmlformats.org/drawingml/2006/main" w="0">
              <a:noFill/>
            </a:ln>
          </c:spPr>
          <c:marker>
            <c:symbol val="x"/>
            <c:size val="7"/>
            <c:spPr>
              <a:solidFill xmlns:a="http://schemas.openxmlformats.org/drawingml/2006/main">
                <a:srgbClr val="BD3A32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6104.959412</c:v>
                </c:pt>
                <c:pt idx="1">
                  <c:v>525</c:v>
                </c:pt>
                <c:pt idx="2">
                  <c:v>677</c:v>
                </c:pt>
                <c:pt idx="3">
                  <c:v>500</c:v>
                </c:pt>
                <c:pt idx="4">
                  <c:v>3170</c:v>
                </c:pt>
                <c:pt idx="5">
                  <c:v>3325</c:v>
                </c:pt>
                <c:pt idx="6">
                  <c:v>4535</c:v>
                </c:pt>
                <c:pt idx="7">
                  <c:v>4428</c:v>
                </c:pt>
                <c:pt idx="8">
                  <c:v>2216</c:v>
                </c:pt>
                <c:pt idx="9">
                  <c:v>2395</c:v>
                </c:pt>
                <c:pt idx="10">
                  <c:v>1898</c:v>
                </c:pt>
                <c:pt idx="11">
                  <c:v>4707</c:v>
                </c:pt>
                <c:pt idx="12">
                  <c:v>2477</c:v>
                </c:pt>
                <c:pt idx="13">
                  <c:v>553</c:v>
                </c:pt>
                <c:pt idx="14">
                  <c:v>5271</c:v>
                </c:pt>
                <c:pt idx="15">
                  <c:v>5500</c:v>
                </c:pt>
                <c:pt idx="16">
                  <c:v>5600</c:v>
                </c:pt>
                <c:pt idx="17">
                  <c:v>6070</c:v>
                </c:pt>
                <c:pt idx="18">
                  <c:v>6761</c:v>
                </c:pt>
                <c:pt idx="19">
                  <c:v>6092</c:v>
                </c:pt>
                <c:pt idx="20">
                  <c:v>9600</c:v>
                </c:pt>
                <c:pt idx="21">
                  <c:v>2760</c:v>
                </c:pt>
                <c:pt idx="22">
                  <c:v>5383.85</c:v>
                </c:pt>
                <c:pt idx="23">
                  <c:v>2410</c:v>
                </c:pt>
                <c:pt idx="24">
                  <c:v>2573</c:v>
                </c:pt>
                <c:pt idx="25">
                  <c:v>4400</c:v>
                </c:pt>
                <c:pt idx="26">
                  <c:v>6500</c:v>
                </c:pt>
                <c:pt idx="27">
                  <c:v>6104.959412</c:v>
                </c:pt>
                <c:pt idx="28">
                  <c:v>15400</c:v>
                </c:pt>
                <c:pt idx="29">
                  <c:v>15600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3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1</c:v>
                </c:pt>
                <c:pt idx="20">
                  <c:v>3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2</c:v>
                </c:pt>
              </c:numCache>
            </c:numRef>
          </c:yVal>
        </c:ser>
        <c:ser>
          <c:idx val="1"/>
          <c:order val="1"/>
          <c:tx>
            <c:v>Class 1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157E62"/>
              </a:solidFill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2296</c:v>
                </c:pt>
                <c:pt idx="1">
                  <c:v>1316</c:v>
                </c:pt>
                <c:pt idx="2">
                  <c:v>570</c:v>
                </c:pt>
                <c:pt idx="3">
                  <c:v>2034</c:v>
                </c:pt>
                <c:pt idx="4">
                  <c:v>3136</c:v>
                </c:pt>
                <c:pt idx="5">
                  <c:v>4696</c:v>
                </c:pt>
                <c:pt idx="6">
                  <c:v>3100</c:v>
                </c:pt>
                <c:pt idx="7">
                  <c:v>2257</c:v>
                </c:pt>
                <c:pt idx="8">
                  <c:v>4600</c:v>
                </c:pt>
                <c:pt idx="9">
                  <c:v>9600</c:v>
                </c:pt>
                <c:pt idx="10">
                  <c:v>2490</c:v>
                </c:pt>
                <c:pt idx="11">
                  <c:v>5300</c:v>
                </c:pt>
                <c:pt idx="12">
                  <c:v>6104.959412</c:v>
                </c:pt>
                <c:pt idx="13">
                  <c:v>2708</c:v>
                </c:pt>
                <c:pt idx="14">
                  <c:v>3669</c:v>
                </c:pt>
                <c:pt idx="15">
                  <c:v>9600</c:v>
                </c:pt>
                <c:pt idx="16">
                  <c:v>2910</c:v>
                </c:pt>
                <c:pt idx="17">
                  <c:v>475</c:v>
                </c:pt>
                <c:pt idx="18">
                  <c:v>4990</c:v>
                </c:pt>
                <c:pt idx="19">
                  <c:v>9600</c:v>
                </c:pt>
                <c:pt idx="20">
                  <c:v>5200</c:v>
                </c:pt>
                <c:pt idx="21">
                  <c:v>3700</c:v>
                </c:pt>
                <c:pt idx="22">
                  <c:v>2205</c:v>
                </c:pt>
                <c:pt idx="23">
                  <c:v>9600</c:v>
                </c:pt>
                <c:pt idx="24">
                  <c:v>6104.959412</c:v>
                </c:pt>
                <c:pt idx="25">
                  <c:v>4230</c:v>
                </c:pt>
                <c:pt idx="26">
                  <c:v>350</c:v>
                </c:pt>
                <c:pt idx="27">
                  <c:v>3750</c:v>
                </c:pt>
                <c:pt idx="28">
                  <c:v>7076</c:v>
                </c:pt>
                <c:pt idx="29">
                  <c:v>9600</c:v>
                </c:pt>
                <c:pt idx="30">
                  <c:v>5800</c:v>
                </c:pt>
                <c:pt idx="31">
                  <c:v>7060</c:v>
                </c:pt>
                <c:pt idx="32">
                  <c:v>2800</c:v>
                </c:pt>
                <c:pt idx="33">
                  <c:v>3000</c:v>
                </c:pt>
                <c:pt idx="34">
                  <c:v>4000</c:v>
                </c:pt>
                <c:pt idx="35">
                  <c:v>9600</c:v>
                </c:pt>
                <c:pt idx="36">
                  <c:v>12259</c:v>
                </c:pt>
                <c:pt idx="37">
                  <c:v>2482</c:v>
                </c:pt>
                <c:pt idx="38">
                  <c:v>13620</c:v>
                </c:pt>
                <c:pt idx="39">
                  <c:v>1425</c:v>
                </c:pt>
                <c:pt idx="40">
                  <c:v>2227.7</c:v>
                </c:pt>
                <c:pt idx="41">
                  <c:v>15600</c:v>
                </c:pt>
                <c:pt idx="42">
                  <c:v>5000</c:v>
                </c:pt>
                <c:pt idx="43">
                  <c:v>6800</c:v>
                </c:pt>
                <c:pt idx="44">
                  <c:v>15400</c:v>
                </c:pt>
                <c:pt idx="45">
                  <c:v>15600</c:v>
                </c:pt>
                <c:pt idx="46">
                  <c:v>1977</c:v>
                </c:pt>
                <c:pt idx="47">
                  <c:v>15400</c:v>
                </c:pt>
                <c:pt idx="48">
                  <c:v>9525</c:v>
                </c:pt>
                <c:pt idx="49">
                  <c:v>15400</c:v>
                </c:pt>
                <c:pt idx="50">
                  <c:v>15400</c:v>
                </c:pt>
                <c:pt idx="51">
                  <c:v>3880</c:v>
                </c:pt>
                <c:pt idx="52">
                  <c:v>6104.959412</c:v>
                </c:pt>
                <c:pt idx="53">
                  <c:v>15400</c:v>
                </c:pt>
                <c:pt idx="54">
                  <c:v>1600</c:v>
                </c:pt>
                <c:pt idx="55">
                  <c:v>15400</c:v>
                </c:pt>
                <c:pt idx="56">
                  <c:v>15400</c:v>
                </c:pt>
                <c:pt idx="57">
                  <c:v>15400</c:v>
                </c:pt>
                <c:pt idx="58">
                  <c:v>15400</c:v>
                </c:pt>
                <c:pt idx="59">
                  <c:v>3681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3</c:v>
                </c:pt>
                <c:pt idx="16">
                  <c:v>2</c:v>
                </c:pt>
                <c:pt idx="17">
                  <c:v>3</c:v>
                </c:pt>
                <c:pt idx="18">
                  <c:v>2</c:v>
                </c:pt>
                <c:pt idx="19">
                  <c:v>3</c:v>
                </c:pt>
                <c:pt idx="20">
                  <c:v>2</c:v>
                </c:pt>
                <c:pt idx="21">
                  <c:v>2</c:v>
                </c:pt>
                <c:pt idx="22">
                  <c:v>1</c:v>
                </c:pt>
                <c:pt idx="23">
                  <c:v>3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3</c:v>
                </c:pt>
                <c:pt idx="30">
                  <c:v>1</c:v>
                </c:pt>
                <c:pt idx="31">
                  <c:v>1</c:v>
                </c:pt>
                <c:pt idx="32">
                  <c:v>3</c:v>
                </c:pt>
                <c:pt idx="33">
                  <c:v>2</c:v>
                </c:pt>
                <c:pt idx="34">
                  <c:v>3</c:v>
                </c:pt>
                <c:pt idx="35">
                  <c:v>3</c:v>
                </c:pt>
                <c:pt idx="36">
                  <c:v>2</c:v>
                </c:pt>
                <c:pt idx="37">
                  <c:v>1</c:v>
                </c:pt>
                <c:pt idx="38">
                  <c:v>1</c:v>
                </c:pt>
                <c:pt idx="39">
                  <c:v>3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2</c:v>
                </c:pt>
                <c:pt idx="48">
                  <c:v>2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1</c:v>
                </c:pt>
                <c:pt idx="59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Liberation Sans"/>
                    <a:ea typeface="Liberation Sans"/>
                    <a:cs typeface="Liberation Sans"/>
                  </a:rPr>
                  <a:t>Category code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Liberation Sans"/>
                    <a:ea typeface="Liberation Sans"/>
                    <a:cs typeface="Liberation Sans"/>
                  </a:rPr>
                  <a:t>Payload mass (kg)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valAx>
      <c:spPr>
        <a:solidFill xmlns:a="http://schemas.openxmlformats.org/drawingml/2006/main">
          <a:srgbClr val="F5F5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solidFill xmlns:a="http://schemas.openxmlformats.org/drawingml/2006/main">
      <a:srgbClr val="F5F5FA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latin typeface="Liberation Sans"/>
                <a:ea typeface="Liberation Sans"/>
                <a:cs typeface="Liberation Sans"/>
              </a:rPr>
              <a:t>Class 1 rate by orbit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Liberation Sans"/>
              <a:ea typeface="Liberation Sans"/>
              <a:cs typeface="Liberation Sans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Class 1 (%)</c:v>
          </c:tx>
          <c:spPr>
            <a:solidFill xmlns:a="http://schemas.openxmlformats.org/drawingml/2006/main">
              <a:srgbClr val="0B49CB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ES-L1</c:v>
                </c:pt>
                <c:pt idx="1">
                  <c:v>GEO</c:v>
                </c:pt>
                <c:pt idx="2">
                  <c:v>GTO</c:v>
                </c:pt>
                <c:pt idx="3">
                  <c:v>HEO</c:v>
                </c:pt>
                <c:pt idx="4">
                  <c:v>ISS</c:v>
                </c:pt>
                <c:pt idx="5">
                  <c:v>LEO</c:v>
                </c:pt>
                <c:pt idx="6">
                  <c:v>MEO</c:v>
                </c:pt>
                <c:pt idx="7">
                  <c:v>PO</c:v>
                </c:pt>
                <c:pt idx="8">
                  <c:v>SO</c:v>
                </c:pt>
                <c:pt idx="9">
                  <c:v>SSO</c:v>
                </c:pt>
                <c:pt idx="10">
                  <c:v>VLEO</c:v>
                </c:pt>
              </c:strCache>
            </c:strRef>
          </c:cat>
          <c:val>
            <c:numRef>
              <c:f>'Chart Data'!$B$2:$B$12</c:f>
              <c:numCache>
                <c:formatCode>General</c:formatCode>
                <c:ptCount val="11"/>
                <c:pt idx="0">
                  <c:v>100</c:v>
                </c:pt>
                <c:pt idx="1">
                  <c:v>100</c:v>
                </c:pt>
                <c:pt idx="2">
                  <c:v>51.9</c:v>
                </c:pt>
                <c:pt idx="3">
                  <c:v>100</c:v>
                </c:pt>
                <c:pt idx="4">
                  <c:v>61.9</c:v>
                </c:pt>
                <c:pt idx="5">
                  <c:v>71.4</c:v>
                </c:pt>
                <c:pt idx="6">
                  <c:v>66.7</c:v>
                </c:pt>
                <c:pt idx="7">
                  <c:v>66.7</c:v>
                </c:pt>
                <c:pt idx="8">
                  <c:v>0</c:v>
                </c:pt>
                <c:pt idx="9">
                  <c:v>100</c:v>
                </c:pt>
                <c:pt idx="10">
                  <c:v>85.7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Liberation Sans"/>
                    <a:ea typeface="Liberation Sans"/>
                    <a:cs typeface="Liberation Sans"/>
                  </a:rPr>
                  <a:t>Class 1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5FA"/>
        </a:solidFill>
      </c:spPr>
    </c:plotArea>
    <c:plotVisOnly val="1"/>
  </c:chart>
  <c:spPr>
    <a:solidFill xmlns:a="http://schemas.openxmlformats.org/drawingml/2006/main">
      <a:srgbClr val="F5F5FA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latin typeface="Liberation Sans"/>
                <a:ea typeface="Liberation Sans"/>
                <a:cs typeface="Liberation Sans"/>
              </a:rPr>
              <a:t>Flight Number vs. Orbit Type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Liberation Sans"/>
              <a:ea typeface="Liberation Sans"/>
              <a:cs typeface="Liberation Sans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Class 0</c:v>
          </c:tx>
          <c:spPr>
            <a:ln xmlns:a="http://schemas.openxmlformats.org/drawingml/2006/main" w="0">
              <a:noFill/>
            </a:ln>
          </c:spPr>
          <c:marker>
            <c:symbol val="x"/>
            <c:size val="7"/>
            <c:spPr>
              <a:solidFill xmlns:a="http://schemas.openxmlformats.org/drawingml/2006/main">
                <a:srgbClr val="BD3A32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18</c:v>
                </c:pt>
                <c:pt idx="14">
                  <c:v>19</c:v>
                </c:pt>
                <c:pt idx="15">
                  <c:v>25</c:v>
                </c:pt>
                <c:pt idx="16">
                  <c:v>28</c:v>
                </c:pt>
                <c:pt idx="17">
                  <c:v>31</c:v>
                </c:pt>
                <c:pt idx="18">
                  <c:v>35</c:v>
                </c:pt>
                <c:pt idx="19">
                  <c:v>46</c:v>
                </c:pt>
                <c:pt idx="20">
                  <c:v>47</c:v>
                </c:pt>
                <c:pt idx="21">
                  <c:v>48</c:v>
                </c:pt>
                <c:pt idx="22">
                  <c:v>51</c:v>
                </c:pt>
                <c:pt idx="23">
                  <c:v>52</c:v>
                </c:pt>
                <c:pt idx="24">
                  <c:v>60</c:v>
                </c:pt>
                <c:pt idx="25">
                  <c:v>61</c:v>
                </c:pt>
                <c:pt idx="26">
                  <c:v>68</c:v>
                </c:pt>
                <c:pt idx="27">
                  <c:v>73</c:v>
                </c:pt>
                <c:pt idx="28">
                  <c:v>75</c:v>
                </c:pt>
                <c:pt idx="29">
                  <c:v>77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6</c:v>
                </c:pt>
                <c:pt idx="1">
                  <c:v>6</c:v>
                </c:pt>
                <c:pt idx="2">
                  <c:v>5</c:v>
                </c:pt>
                <c:pt idx="3">
                  <c:v>8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3</c:v>
                </c:pt>
                <c:pt idx="12">
                  <c:v>5</c:v>
                </c:pt>
                <c:pt idx="13">
                  <c:v>8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8</c:v>
                </c:pt>
                <c:pt idx="21">
                  <c:v>5</c:v>
                </c:pt>
                <c:pt idx="22">
                  <c:v>3</c:v>
                </c:pt>
                <c:pt idx="23">
                  <c:v>5</c:v>
                </c:pt>
                <c:pt idx="24">
                  <c:v>5</c:v>
                </c:pt>
                <c:pt idx="25">
                  <c:v>7</c:v>
                </c:pt>
                <c:pt idx="26">
                  <c:v>3</c:v>
                </c:pt>
                <c:pt idx="27">
                  <c:v>9</c:v>
                </c:pt>
                <c:pt idx="28">
                  <c:v>11</c:v>
                </c:pt>
                <c:pt idx="29">
                  <c:v>11</c:v>
                </c:pt>
              </c:numCache>
            </c:numRef>
          </c:yVal>
        </c:ser>
        <c:ser>
          <c:idx val="1"/>
          <c:order val="1"/>
          <c:tx>
            <c:v>Class 1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157E62"/>
              </a:solidFill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7</c:v>
                </c:pt>
                <c:pt idx="1">
                  <c:v>8</c:v>
                </c:pt>
                <c:pt idx="2">
                  <c:v>13</c:v>
                </c:pt>
                <c:pt idx="3">
                  <c:v>17</c:v>
                </c:pt>
                <c:pt idx="4">
                  <c:v>20</c:v>
                </c:pt>
                <c:pt idx="5">
                  <c:v>21</c:v>
                </c:pt>
                <c:pt idx="6">
                  <c:v>22</c:v>
                </c:pt>
                <c:pt idx="7">
                  <c:v>23</c:v>
                </c:pt>
                <c:pt idx="8">
                  <c:v>24</c:v>
                </c:pt>
                <c:pt idx="9">
                  <c:v>26</c:v>
                </c:pt>
                <c:pt idx="10">
                  <c:v>27</c:v>
                </c:pt>
                <c:pt idx="11">
                  <c:v>29</c:v>
                </c:pt>
                <c:pt idx="12">
                  <c:v>30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36</c:v>
                </c:pt>
                <c:pt idx="17">
                  <c:v>37</c:v>
                </c:pt>
                <c:pt idx="18">
                  <c:v>38</c:v>
                </c:pt>
                <c:pt idx="19">
                  <c:v>39</c:v>
                </c:pt>
                <c:pt idx="20">
                  <c:v>40</c:v>
                </c:pt>
                <c:pt idx="21">
                  <c:v>41</c:v>
                </c:pt>
                <c:pt idx="22">
                  <c:v>42</c:v>
                </c:pt>
                <c:pt idx="23">
                  <c:v>43</c:v>
                </c:pt>
                <c:pt idx="24">
                  <c:v>44</c:v>
                </c:pt>
                <c:pt idx="25">
                  <c:v>45</c:v>
                </c:pt>
                <c:pt idx="26">
                  <c:v>49</c:v>
                </c:pt>
                <c:pt idx="27">
                  <c:v>50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62</c:v>
                </c:pt>
                <c:pt idx="36">
                  <c:v>63</c:v>
                </c:pt>
                <c:pt idx="37">
                  <c:v>64</c:v>
                </c:pt>
                <c:pt idx="38">
                  <c:v>65</c:v>
                </c:pt>
                <c:pt idx="39">
                  <c:v>66</c:v>
                </c:pt>
                <c:pt idx="40">
                  <c:v>67</c:v>
                </c:pt>
                <c:pt idx="41">
                  <c:v>69</c:v>
                </c:pt>
                <c:pt idx="42">
                  <c:v>70</c:v>
                </c:pt>
                <c:pt idx="43">
                  <c:v>71</c:v>
                </c:pt>
                <c:pt idx="44">
                  <c:v>72</c:v>
                </c:pt>
                <c:pt idx="45">
                  <c:v>74</c:v>
                </c:pt>
                <c:pt idx="46">
                  <c:v>76</c:v>
                </c:pt>
                <c:pt idx="47">
                  <c:v>78</c:v>
                </c:pt>
                <c:pt idx="48">
                  <c:v>79</c:v>
                </c:pt>
                <c:pt idx="49">
                  <c:v>80</c:v>
                </c:pt>
                <c:pt idx="50">
                  <c:v>81</c:v>
                </c:pt>
                <c:pt idx="51">
                  <c:v>82</c:v>
                </c:pt>
                <c:pt idx="52">
                  <c:v>83</c:v>
                </c:pt>
                <c:pt idx="53">
                  <c:v>84</c:v>
                </c:pt>
                <c:pt idx="54">
                  <c:v>85</c:v>
                </c:pt>
                <c:pt idx="55">
                  <c:v>86</c:v>
                </c:pt>
                <c:pt idx="56">
                  <c:v>87</c:v>
                </c:pt>
                <c:pt idx="57">
                  <c:v>88</c:v>
                </c:pt>
                <c:pt idx="58">
                  <c:v>89</c:v>
                </c:pt>
                <c:pt idx="59">
                  <c:v>90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5</c:v>
                </c:pt>
                <c:pt idx="1">
                  <c:v>6</c:v>
                </c:pt>
                <c:pt idx="2">
                  <c:v>1</c:v>
                </c:pt>
                <c:pt idx="3">
                  <c:v>6</c:v>
                </c:pt>
                <c:pt idx="4">
                  <c:v>5</c:v>
                </c:pt>
                <c:pt idx="5">
                  <c:v>3</c:v>
                </c:pt>
                <c:pt idx="6">
                  <c:v>3</c:v>
                </c:pt>
                <c:pt idx="7">
                  <c:v>5</c:v>
                </c:pt>
                <c:pt idx="8">
                  <c:v>3</c:v>
                </c:pt>
                <c:pt idx="9">
                  <c:v>8</c:v>
                </c:pt>
                <c:pt idx="10">
                  <c:v>5</c:v>
                </c:pt>
                <c:pt idx="11">
                  <c:v>3</c:v>
                </c:pt>
                <c:pt idx="12">
                  <c:v>6</c:v>
                </c:pt>
                <c:pt idx="13">
                  <c:v>5</c:v>
                </c:pt>
                <c:pt idx="14">
                  <c:v>3</c:v>
                </c:pt>
                <c:pt idx="15">
                  <c:v>8</c:v>
                </c:pt>
                <c:pt idx="16">
                  <c:v>5</c:v>
                </c:pt>
                <c:pt idx="17">
                  <c:v>10</c:v>
                </c:pt>
                <c:pt idx="18">
                  <c:v>6</c:v>
                </c:pt>
                <c:pt idx="19">
                  <c:v>8</c:v>
                </c:pt>
                <c:pt idx="20">
                  <c:v>3</c:v>
                </c:pt>
                <c:pt idx="21">
                  <c:v>3</c:v>
                </c:pt>
                <c:pt idx="22">
                  <c:v>5</c:v>
                </c:pt>
                <c:pt idx="23">
                  <c:v>8</c:v>
                </c:pt>
                <c:pt idx="24">
                  <c:v>6</c:v>
                </c:pt>
                <c:pt idx="25">
                  <c:v>3</c:v>
                </c:pt>
                <c:pt idx="26">
                  <c:v>4</c:v>
                </c:pt>
                <c:pt idx="27">
                  <c:v>3</c:v>
                </c:pt>
                <c:pt idx="28">
                  <c:v>3</c:v>
                </c:pt>
                <c:pt idx="29">
                  <c:v>8</c:v>
                </c:pt>
                <c:pt idx="30">
                  <c:v>3</c:v>
                </c:pt>
                <c:pt idx="31">
                  <c:v>3</c:v>
                </c:pt>
                <c:pt idx="32">
                  <c:v>10</c:v>
                </c:pt>
                <c:pt idx="33">
                  <c:v>3</c:v>
                </c:pt>
                <c:pt idx="34">
                  <c:v>10</c:v>
                </c:pt>
                <c:pt idx="35">
                  <c:v>8</c:v>
                </c:pt>
                <c:pt idx="36">
                  <c:v>5</c:v>
                </c:pt>
                <c:pt idx="37">
                  <c:v>5</c:v>
                </c:pt>
                <c:pt idx="38">
                  <c:v>11</c:v>
                </c:pt>
                <c:pt idx="39">
                  <c:v>10</c:v>
                </c:pt>
                <c:pt idx="40">
                  <c:v>5</c:v>
                </c:pt>
                <c:pt idx="41">
                  <c:v>11</c:v>
                </c:pt>
                <c:pt idx="42">
                  <c:v>5</c:v>
                </c:pt>
                <c:pt idx="43">
                  <c:v>3</c:v>
                </c:pt>
                <c:pt idx="44">
                  <c:v>11</c:v>
                </c:pt>
                <c:pt idx="45">
                  <c:v>11</c:v>
                </c:pt>
                <c:pt idx="46">
                  <c:v>5</c:v>
                </c:pt>
                <c:pt idx="47">
                  <c:v>11</c:v>
                </c:pt>
                <c:pt idx="48">
                  <c:v>5</c:v>
                </c:pt>
                <c:pt idx="49">
                  <c:v>11</c:v>
                </c:pt>
                <c:pt idx="50">
                  <c:v>11</c:v>
                </c:pt>
                <c:pt idx="51">
                  <c:v>7</c:v>
                </c:pt>
                <c:pt idx="52">
                  <c:v>2</c:v>
                </c:pt>
                <c:pt idx="53">
                  <c:v>11</c:v>
                </c:pt>
                <c:pt idx="54">
                  <c:v>10</c:v>
                </c:pt>
                <c:pt idx="55">
                  <c:v>11</c:v>
                </c:pt>
                <c:pt idx="56">
                  <c:v>11</c:v>
                </c:pt>
                <c:pt idx="57">
                  <c:v>11</c:v>
                </c:pt>
                <c:pt idx="58">
                  <c:v>11</c:v>
                </c:pt>
                <c:pt idx="59">
                  <c:v>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2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Liberation Sans"/>
                    <a:ea typeface="Liberation Sans"/>
                    <a:cs typeface="Liberation Sans"/>
                  </a:rPr>
                  <a:t>Category code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Liberation Sans"/>
                    <a:ea typeface="Liberation Sans"/>
                    <a:cs typeface="Liberation Sans"/>
                  </a:rPr>
                  <a:t>Flight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valAx>
      <c:spPr>
        <a:solidFill xmlns:a="http://schemas.openxmlformats.org/drawingml/2006/main">
          <a:srgbClr val="F5F5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solidFill xmlns:a="http://schemas.openxmlformats.org/drawingml/2006/main">
      <a:srgbClr val="F5F5FA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latin typeface="Liberation Sans"/>
                <a:ea typeface="Liberation Sans"/>
                <a:cs typeface="Liberation Sans"/>
              </a:rPr>
              <a:t>Payload vs. Orbit Type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Liberation Sans"/>
              <a:ea typeface="Liberation Sans"/>
              <a:cs typeface="Liberation Sans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Class 0</c:v>
          </c:tx>
          <c:spPr>
            <a:ln xmlns:a="http://schemas.openxmlformats.org/drawingml/2006/main" w="0">
              <a:noFill/>
            </a:ln>
          </c:spPr>
          <c:marker>
            <c:symbol val="x"/>
            <c:size val="7"/>
            <c:spPr>
              <a:solidFill xmlns:a="http://schemas.openxmlformats.org/drawingml/2006/main">
                <a:srgbClr val="BD3A32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6104.959412</c:v>
                </c:pt>
                <c:pt idx="1">
                  <c:v>525</c:v>
                </c:pt>
                <c:pt idx="2">
                  <c:v>677</c:v>
                </c:pt>
                <c:pt idx="3">
                  <c:v>500</c:v>
                </c:pt>
                <c:pt idx="4">
                  <c:v>3170</c:v>
                </c:pt>
                <c:pt idx="5">
                  <c:v>3325</c:v>
                </c:pt>
                <c:pt idx="6">
                  <c:v>4535</c:v>
                </c:pt>
                <c:pt idx="7">
                  <c:v>4428</c:v>
                </c:pt>
                <c:pt idx="8">
                  <c:v>2216</c:v>
                </c:pt>
                <c:pt idx="9">
                  <c:v>2395</c:v>
                </c:pt>
                <c:pt idx="10">
                  <c:v>1898</c:v>
                </c:pt>
                <c:pt idx="11">
                  <c:v>4707</c:v>
                </c:pt>
                <c:pt idx="12">
                  <c:v>2477</c:v>
                </c:pt>
                <c:pt idx="13">
                  <c:v>553</c:v>
                </c:pt>
                <c:pt idx="14">
                  <c:v>5271</c:v>
                </c:pt>
                <c:pt idx="15">
                  <c:v>5500</c:v>
                </c:pt>
                <c:pt idx="16">
                  <c:v>5600</c:v>
                </c:pt>
                <c:pt idx="17">
                  <c:v>6070</c:v>
                </c:pt>
                <c:pt idx="18">
                  <c:v>6761</c:v>
                </c:pt>
                <c:pt idx="19">
                  <c:v>6092</c:v>
                </c:pt>
                <c:pt idx="20">
                  <c:v>9600</c:v>
                </c:pt>
                <c:pt idx="21">
                  <c:v>2760</c:v>
                </c:pt>
                <c:pt idx="22">
                  <c:v>5383.85</c:v>
                </c:pt>
                <c:pt idx="23">
                  <c:v>2410</c:v>
                </c:pt>
                <c:pt idx="24">
                  <c:v>2573</c:v>
                </c:pt>
                <c:pt idx="25">
                  <c:v>4400</c:v>
                </c:pt>
                <c:pt idx="26">
                  <c:v>6500</c:v>
                </c:pt>
                <c:pt idx="27">
                  <c:v>6104.959412</c:v>
                </c:pt>
                <c:pt idx="28">
                  <c:v>15400</c:v>
                </c:pt>
                <c:pt idx="29">
                  <c:v>15600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6</c:v>
                </c:pt>
                <c:pt idx="1">
                  <c:v>6</c:v>
                </c:pt>
                <c:pt idx="2">
                  <c:v>5</c:v>
                </c:pt>
                <c:pt idx="3">
                  <c:v>8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3</c:v>
                </c:pt>
                <c:pt idx="12">
                  <c:v>5</c:v>
                </c:pt>
                <c:pt idx="13">
                  <c:v>8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8</c:v>
                </c:pt>
                <c:pt idx="21">
                  <c:v>5</c:v>
                </c:pt>
                <c:pt idx="22">
                  <c:v>3</c:v>
                </c:pt>
                <c:pt idx="23">
                  <c:v>5</c:v>
                </c:pt>
                <c:pt idx="24">
                  <c:v>5</c:v>
                </c:pt>
                <c:pt idx="25">
                  <c:v>7</c:v>
                </c:pt>
                <c:pt idx="26">
                  <c:v>3</c:v>
                </c:pt>
                <c:pt idx="27">
                  <c:v>9</c:v>
                </c:pt>
                <c:pt idx="28">
                  <c:v>11</c:v>
                </c:pt>
                <c:pt idx="29">
                  <c:v>11</c:v>
                </c:pt>
              </c:numCache>
            </c:numRef>
          </c:yVal>
        </c:ser>
        <c:ser>
          <c:idx val="1"/>
          <c:order val="1"/>
          <c:tx>
            <c:v>Class 1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157E62"/>
              </a:solidFill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2296</c:v>
                </c:pt>
                <c:pt idx="1">
                  <c:v>1316</c:v>
                </c:pt>
                <c:pt idx="2">
                  <c:v>570</c:v>
                </c:pt>
                <c:pt idx="3">
                  <c:v>2034</c:v>
                </c:pt>
                <c:pt idx="4">
                  <c:v>3136</c:v>
                </c:pt>
                <c:pt idx="5">
                  <c:v>4696</c:v>
                </c:pt>
                <c:pt idx="6">
                  <c:v>3100</c:v>
                </c:pt>
                <c:pt idx="7">
                  <c:v>2257</c:v>
                </c:pt>
                <c:pt idx="8">
                  <c:v>4600</c:v>
                </c:pt>
                <c:pt idx="9">
                  <c:v>9600</c:v>
                </c:pt>
                <c:pt idx="10">
                  <c:v>2490</c:v>
                </c:pt>
                <c:pt idx="11">
                  <c:v>5300</c:v>
                </c:pt>
                <c:pt idx="12">
                  <c:v>6104.959412</c:v>
                </c:pt>
                <c:pt idx="13">
                  <c:v>2708</c:v>
                </c:pt>
                <c:pt idx="14">
                  <c:v>3669</c:v>
                </c:pt>
                <c:pt idx="15">
                  <c:v>9600</c:v>
                </c:pt>
                <c:pt idx="16">
                  <c:v>2910</c:v>
                </c:pt>
                <c:pt idx="17">
                  <c:v>475</c:v>
                </c:pt>
                <c:pt idx="18">
                  <c:v>4990</c:v>
                </c:pt>
                <c:pt idx="19">
                  <c:v>9600</c:v>
                </c:pt>
                <c:pt idx="20">
                  <c:v>5200</c:v>
                </c:pt>
                <c:pt idx="21">
                  <c:v>3700</c:v>
                </c:pt>
                <c:pt idx="22">
                  <c:v>2205</c:v>
                </c:pt>
                <c:pt idx="23">
                  <c:v>9600</c:v>
                </c:pt>
                <c:pt idx="24">
                  <c:v>6104.959412</c:v>
                </c:pt>
                <c:pt idx="25">
                  <c:v>4230</c:v>
                </c:pt>
                <c:pt idx="26">
                  <c:v>350</c:v>
                </c:pt>
                <c:pt idx="27">
                  <c:v>3750</c:v>
                </c:pt>
                <c:pt idx="28">
                  <c:v>7076</c:v>
                </c:pt>
                <c:pt idx="29">
                  <c:v>9600</c:v>
                </c:pt>
                <c:pt idx="30">
                  <c:v>5800</c:v>
                </c:pt>
                <c:pt idx="31">
                  <c:v>7060</c:v>
                </c:pt>
                <c:pt idx="32">
                  <c:v>2800</c:v>
                </c:pt>
                <c:pt idx="33">
                  <c:v>3000</c:v>
                </c:pt>
                <c:pt idx="34">
                  <c:v>4000</c:v>
                </c:pt>
                <c:pt idx="35">
                  <c:v>9600</c:v>
                </c:pt>
                <c:pt idx="36">
                  <c:v>12259</c:v>
                </c:pt>
                <c:pt idx="37">
                  <c:v>2482</c:v>
                </c:pt>
                <c:pt idx="38">
                  <c:v>13620</c:v>
                </c:pt>
                <c:pt idx="39">
                  <c:v>1425</c:v>
                </c:pt>
                <c:pt idx="40">
                  <c:v>2227.7</c:v>
                </c:pt>
                <c:pt idx="41">
                  <c:v>15600</c:v>
                </c:pt>
                <c:pt idx="42">
                  <c:v>5000</c:v>
                </c:pt>
                <c:pt idx="43">
                  <c:v>6800</c:v>
                </c:pt>
                <c:pt idx="44">
                  <c:v>15400</c:v>
                </c:pt>
                <c:pt idx="45">
                  <c:v>15600</c:v>
                </c:pt>
                <c:pt idx="46">
                  <c:v>1977</c:v>
                </c:pt>
                <c:pt idx="47">
                  <c:v>15400</c:v>
                </c:pt>
                <c:pt idx="48">
                  <c:v>9525</c:v>
                </c:pt>
                <c:pt idx="49">
                  <c:v>15400</c:v>
                </c:pt>
                <c:pt idx="50">
                  <c:v>15400</c:v>
                </c:pt>
                <c:pt idx="51">
                  <c:v>3880</c:v>
                </c:pt>
                <c:pt idx="52">
                  <c:v>6104.959412</c:v>
                </c:pt>
                <c:pt idx="53">
                  <c:v>15400</c:v>
                </c:pt>
                <c:pt idx="54">
                  <c:v>1600</c:v>
                </c:pt>
                <c:pt idx="55">
                  <c:v>15400</c:v>
                </c:pt>
                <c:pt idx="56">
                  <c:v>15400</c:v>
                </c:pt>
                <c:pt idx="57">
                  <c:v>15400</c:v>
                </c:pt>
                <c:pt idx="58">
                  <c:v>15400</c:v>
                </c:pt>
                <c:pt idx="59">
                  <c:v>3681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5</c:v>
                </c:pt>
                <c:pt idx="1">
                  <c:v>6</c:v>
                </c:pt>
                <c:pt idx="2">
                  <c:v>1</c:v>
                </c:pt>
                <c:pt idx="3">
                  <c:v>6</c:v>
                </c:pt>
                <c:pt idx="4">
                  <c:v>5</c:v>
                </c:pt>
                <c:pt idx="5">
                  <c:v>3</c:v>
                </c:pt>
                <c:pt idx="6">
                  <c:v>3</c:v>
                </c:pt>
                <c:pt idx="7">
                  <c:v>5</c:v>
                </c:pt>
                <c:pt idx="8">
                  <c:v>3</c:v>
                </c:pt>
                <c:pt idx="9">
                  <c:v>8</c:v>
                </c:pt>
                <c:pt idx="10">
                  <c:v>5</c:v>
                </c:pt>
                <c:pt idx="11">
                  <c:v>3</c:v>
                </c:pt>
                <c:pt idx="12">
                  <c:v>6</c:v>
                </c:pt>
                <c:pt idx="13">
                  <c:v>5</c:v>
                </c:pt>
                <c:pt idx="14">
                  <c:v>3</c:v>
                </c:pt>
                <c:pt idx="15">
                  <c:v>8</c:v>
                </c:pt>
                <c:pt idx="16">
                  <c:v>5</c:v>
                </c:pt>
                <c:pt idx="17">
                  <c:v>10</c:v>
                </c:pt>
                <c:pt idx="18">
                  <c:v>6</c:v>
                </c:pt>
                <c:pt idx="19">
                  <c:v>8</c:v>
                </c:pt>
                <c:pt idx="20">
                  <c:v>3</c:v>
                </c:pt>
                <c:pt idx="21">
                  <c:v>3</c:v>
                </c:pt>
                <c:pt idx="22">
                  <c:v>5</c:v>
                </c:pt>
                <c:pt idx="23">
                  <c:v>8</c:v>
                </c:pt>
                <c:pt idx="24">
                  <c:v>6</c:v>
                </c:pt>
                <c:pt idx="25">
                  <c:v>3</c:v>
                </c:pt>
                <c:pt idx="26">
                  <c:v>4</c:v>
                </c:pt>
                <c:pt idx="27">
                  <c:v>3</c:v>
                </c:pt>
                <c:pt idx="28">
                  <c:v>3</c:v>
                </c:pt>
                <c:pt idx="29">
                  <c:v>8</c:v>
                </c:pt>
                <c:pt idx="30">
                  <c:v>3</c:v>
                </c:pt>
                <c:pt idx="31">
                  <c:v>3</c:v>
                </c:pt>
                <c:pt idx="32">
                  <c:v>10</c:v>
                </c:pt>
                <c:pt idx="33">
                  <c:v>3</c:v>
                </c:pt>
                <c:pt idx="34">
                  <c:v>10</c:v>
                </c:pt>
                <c:pt idx="35">
                  <c:v>8</c:v>
                </c:pt>
                <c:pt idx="36">
                  <c:v>5</c:v>
                </c:pt>
                <c:pt idx="37">
                  <c:v>5</c:v>
                </c:pt>
                <c:pt idx="38">
                  <c:v>11</c:v>
                </c:pt>
                <c:pt idx="39">
                  <c:v>10</c:v>
                </c:pt>
                <c:pt idx="40">
                  <c:v>5</c:v>
                </c:pt>
                <c:pt idx="41">
                  <c:v>11</c:v>
                </c:pt>
                <c:pt idx="42">
                  <c:v>5</c:v>
                </c:pt>
                <c:pt idx="43">
                  <c:v>3</c:v>
                </c:pt>
                <c:pt idx="44">
                  <c:v>11</c:v>
                </c:pt>
                <c:pt idx="45">
                  <c:v>11</c:v>
                </c:pt>
                <c:pt idx="46">
                  <c:v>5</c:v>
                </c:pt>
                <c:pt idx="47">
                  <c:v>11</c:v>
                </c:pt>
                <c:pt idx="48">
                  <c:v>5</c:v>
                </c:pt>
                <c:pt idx="49">
                  <c:v>11</c:v>
                </c:pt>
                <c:pt idx="50">
                  <c:v>11</c:v>
                </c:pt>
                <c:pt idx="51">
                  <c:v>7</c:v>
                </c:pt>
                <c:pt idx="52">
                  <c:v>2</c:v>
                </c:pt>
                <c:pt idx="53">
                  <c:v>11</c:v>
                </c:pt>
                <c:pt idx="54">
                  <c:v>10</c:v>
                </c:pt>
                <c:pt idx="55">
                  <c:v>11</c:v>
                </c:pt>
                <c:pt idx="56">
                  <c:v>11</c:v>
                </c:pt>
                <c:pt idx="57">
                  <c:v>11</c:v>
                </c:pt>
                <c:pt idx="58">
                  <c:v>11</c:v>
                </c:pt>
                <c:pt idx="59">
                  <c:v>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2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Liberation Sans"/>
                    <a:ea typeface="Liberation Sans"/>
                    <a:cs typeface="Liberation Sans"/>
                  </a:rPr>
                  <a:t>Category code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Liberation Sans"/>
                    <a:ea typeface="Liberation Sans"/>
                    <a:cs typeface="Liberation Sans"/>
                  </a:rPr>
                  <a:t>Payload mass (kg)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valAx>
      <c:spPr>
        <a:solidFill xmlns:a="http://schemas.openxmlformats.org/drawingml/2006/main">
          <a:srgbClr val="F5F5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solidFill xmlns:a="http://schemas.openxmlformats.org/drawingml/2006/main">
      <a:srgbClr val="F5F5FA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latin typeface="Liberation Sans"/>
                <a:ea typeface="Liberation Sans"/>
                <a:cs typeface="Liberation Sans"/>
              </a:rPr>
              <a:t>Yearly Class 1 rate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Liberation Sans"/>
              <a:ea typeface="Liberation Sans"/>
              <a:cs typeface="Liberation Sans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Class 1 (%)</c:v>
          </c:tx>
          <c:spPr>
            <a:ln xmlns:a="http://schemas.openxmlformats.org/drawingml/2006/main" w="28575">
              <a:solidFill>
                <a:srgbClr val="0B49CB"/>
              </a:solidFill>
            </a:ln>
          </c:spPr>
          <c:marker>
            <c:symbol val="circle"/>
            <c:size val="7"/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33.3</c:v>
                </c:pt>
                <c:pt idx="4">
                  <c:v>33.3</c:v>
                </c:pt>
                <c:pt idx="5">
                  <c:v>62.5</c:v>
                </c:pt>
                <c:pt idx="6">
                  <c:v>83.3</c:v>
                </c:pt>
                <c:pt idx="7">
                  <c:v>61.1</c:v>
                </c:pt>
                <c:pt idx="8">
                  <c:v>90</c:v>
                </c:pt>
                <c:pt idx="9">
                  <c:v>84.2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Liberation Sans"/>
                    <a:ea typeface="Liberation Sans"/>
                    <a:cs typeface="Liberation Sans"/>
                  </a:rPr>
                  <a:t>Class 1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5FA"/>
        </a:solidFill>
      </c:spPr>
    </c:plotArea>
    <c:plotVisOnly val="1"/>
  </c:chart>
  <c:spPr>
    <a:solidFill xmlns:a="http://schemas.openxmlformats.org/drawingml/2006/main">
      <a:srgbClr val="F5F5FA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latin typeface="Liberation Sans"/>
                <a:ea typeface="Liberation Sans"/>
                <a:cs typeface="Liberation Sans"/>
              </a:rPr>
              <a:t>Accuracy: validation and held-out test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Liberation Sans"/>
              <a:ea typeface="Liberation Sans"/>
              <a:cs typeface="Liberation San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5-fold CV</c:v>
          </c:tx>
          <c:spPr>
            <a:solidFill xmlns:a="http://schemas.openxmlformats.org/drawingml/2006/main">
              <a:srgbClr val="0B49CB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Logistic</c:v>
                </c:pt>
                <c:pt idx="1">
                  <c:v>SVM</c:v>
                </c:pt>
                <c:pt idx="2">
                  <c:v>Tree</c:v>
                </c:pt>
                <c:pt idx="3">
                  <c:v>KNN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84.9</c:v>
                </c:pt>
                <c:pt idx="1">
                  <c:v>88.9</c:v>
                </c:pt>
                <c:pt idx="2">
                  <c:v>84.6</c:v>
                </c:pt>
                <c:pt idx="3">
                  <c:v>89</c:v>
                </c:pt>
              </c:numCache>
            </c:numRef>
          </c:val>
        </c:ser>
        <c:ser>
          <c:idx val="1"/>
          <c:order val="1"/>
          <c:tx>
            <c:v>Test (18)</c:v>
          </c:tx>
          <c:spPr>
            <a:solidFill xmlns:a="http://schemas.openxmlformats.org/drawingml/2006/main">
              <a:srgbClr val="21A179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Logistic</c:v>
                </c:pt>
                <c:pt idx="1">
                  <c:v>SVM</c:v>
                </c:pt>
                <c:pt idx="2">
                  <c:v>Tree</c:v>
                </c:pt>
                <c:pt idx="3">
                  <c:v>KNN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77.8</c:v>
                </c:pt>
                <c:pt idx="1">
                  <c:v>77.8</c:v>
                </c:pt>
                <c:pt idx="2">
                  <c:v>83.3</c:v>
                </c:pt>
                <c:pt idx="3">
                  <c:v>77.8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Liberation Sans"/>
                  <a:ea typeface="Liberation Sans"/>
                  <a:cs typeface="Liberation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Liberation Sans"/>
                    <a:ea typeface="Liberation Sans"/>
                    <a:cs typeface="Liberation Sans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5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solidFill xmlns:a="http://schemas.openxmlformats.org/drawingml/2006/main">
      <a:srgbClr val="F5F5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233ae0bdc4a4b3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48175"/>
            <a:ext cx="5143500" cy="845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>
            <a:defPPr>
              <a:defRPr sz="16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IBM Applied Data Science Capstone</a:t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Reconstructed course-data analysis</a:t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27 October 2026</a:t>
            </a:r>
          </a:p>
        </p:txBody>
      </p:sp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97AAB2BF-D83A-479B-BC19-B71B632F83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ef33bc7144f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820" y="676828"/>
            <a:ext cx="2104103" cy="6291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1a0ef72adea4c19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2</a:t>
            </a:fld>
            <a:endParaRPr>
              <a:latin typeface="Liberation Sans"/>
            </a:endParaRPr>
          </a:p>
        </p:txBody>
      </p:sp>
      <p:sp>
        <p:nvSpPr>
          <p:cNvPr id="19" name="Title 1">
            <a:extLst xmlns:a="http://schemas.openxmlformats.org/drawingml/2006/main"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Outline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458E1-9983-4E16-A3BB-CC35F063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4775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Executive summary and project question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Methodology and data provenance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EDA charts and SQL results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Folium maps and Plotly Dash views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Classification results and conclusions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Appendix: sources and reproducibility</a:t>
            </a:r>
          </a:p>
        </p:txBody>
      </p:sp>
      <p:sp>
        <p:nvSpPr>
          <p:cNvPr id="999" name="GitHub repository link"/>
          <p:cNvSpPr txBox="1"/>
          <p:nvPr/>
        </p:nvSpPr>
        <p:spPr>
          <ns0:xfrm xmlns:ns0="http://schemas.openxmlformats.org/drawingml/2006/main">
            <ns0:off x="838200" y="5667375"/>
            <ns0:ext cx="10477500" cy="476250"/>
          </ns0:xfrm>
          <ns1:prstGeom xmlns:ns1="http://schemas.openxmlformats.org/drawingml/2006/main" prst="rect">
            <ns1:avLst/>
          </ns1:prstGeom>
          <ns2:noFill xmlns:ns2="http://schemas.openxmlformats.org/drawingml/2006/main"/>
        </p:spPr>
        <p:txBody>
          <ns3:bodyPr xmlns:ns3="http://schemas.openxmlformats.org/drawingml/2006/main"/>
          <ns4:lstStyle xmlns:ns4="http://schemas.openxmlformats.org/drawingml/2006/main"/>
          <ns5:p xmlns:ns5="http://schemas.openxmlformats.org/drawingml/2006/main">
            <ns5:r>
              <ns5:rPr sz="1400">
                <ns5:solidFill>
                  <ns5:srgbClr val="0B49CB"/>
                </ns5:solidFill>
                <ns5:latin typeface="Liberation Sans"/>
              </ns5:rPr>
              <ns5:t>Completed notebooks and Python files:
https://github.com/mohitpingale24-alt/IBM-Stock-Data-Analysis/tree/main/spacex-capstone</ns5:t>
            </ns5:r>
          </ns5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ac713506ffa438d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075537C-CA84-1446-933C-8E9D027F9201}" type="slidenum">
              <a:rPr>
                <a:latin typeface="Liberation Sans"/>
              </a:rPr>
              <a:t>3</a:t>
            </a:fld>
            <a:endParaRPr>
              <a:latin typeface="Liberation Sans"/>
            </a:endParaRPr>
          </a:p>
        </p:txBody>
      </p:sp>
      <p:sp>
        <p:nvSpPr>
          <p:cNvPr id="19" name="Title 1">
            <a:extLst xmlns:a="http://schemas.openxmlformats.org/drawingml/2006/main"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Executive Summary</a:t>
            </a:r>
            <a:endParaRPr>
              <a:solidFill>
                <a:srgbClr val="0B49CB"/>
              </a:solidFill>
              <a:latin typeface="Liberation Sans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8607D5-963A-4DDA-8C20-58FB89D4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4775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60 of 90 launches have Class 1 outcomes (66.7%). The course label includes ocean landings.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KSC LC 39A has 17/22 Class 1 outcomes in the EDA snapshot. Site differences also reflect mission mix and time.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The decision tree scores 83.3% on 18 test launches. KNN leads training cross-validation by a small margin.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Historical associations support further analysis, not current launch or price predictions.</a:t>
            </a: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11d440e7dd94b75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075537C-CA84-1446-933C-8E9D027F9201}" type="slidenum">
              <a:rPr>
                <a:latin typeface="Liberation Sans"/>
              </a:rPr>
              <a:t>4</a:t>
            </a:fld>
            <a:endParaRPr>
              <a:latin typeface="Liberation Sans"/>
            </a:endParaRPr>
          </a:p>
        </p:txBody>
      </p:sp>
      <p:sp>
        <p:nvSpPr>
          <p:cNvPr id="19" name="Title 1">
            <a:extLst xmlns:a="http://schemas.openxmlformats.org/drawingml/2006/main"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Introduction</a:t>
            </a:r>
            <a:endParaRPr>
              <a:solidFill>
                <a:srgbClr val="0B49CB"/>
              </a:solidFill>
              <a:latin typeface="Liberation Sans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C0322-D013-4E03-8BB0-0E89E072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4775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Question: Which recorded launch characteristics are associated with Falcon 9 first-stage landing outcomes?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Reusable first stages motivate the analysis, but these datasets contain no recovery cost or bid-price target.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We compare launch site, payload, orbit and flight history, then evaluate four classifiers.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Scope: historical course snapshots, with new calculations and reconstructed map/dashboard views.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af37e669967444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488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5</a:t>
            </a:fld>
            <a:endParaRPr>
              <a:latin typeface="Liberation Sans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13" y="2812774"/>
            <a:ext cx="1058303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48CB"/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  <a:latin typeface="Liberation Sans"/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e63c4c4f9b71473c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6</a:t>
            </a:fld>
            <a:endParaRPr>
              <a:latin typeface="Liberation Sans"/>
            </a:endParaRPr>
          </a:p>
        </p:txBody>
      </p:sp>
      <p:sp>
        <p:nvSpPr>
          <p:cNvPr id="13" name="Title 1">
            <a:extLst xmlns:a="http://schemas.openxmlformats.org/drawingml/2006/main"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Methodology</a:t>
            </a:r>
            <a:endParaRPr>
              <a:solidFill>
                <a:srgbClr val="0B49CB"/>
              </a:solidFill>
              <a:latin typeface="Liberation Sans"/>
            </a:endParaRP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F6BD2-7A23-403D-9730-EE992D12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4775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1  Obtain and validate the published IBM course snapshots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2  Audit missing values, outcome labels and dataset boundaries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3  Execute SQLite queries and explore launch characteristics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4  Rebuild Folium maps and the interactive Dash views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5  Split the modeling data, tune within training folds and evaluate once on a held-out test set</a:t>
            </a: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01caa4411e24b0e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7</a:t>
            </a:fld>
            <a:endParaRPr>
              <a:latin typeface="Liberation Sans"/>
            </a:endParaRPr>
          </a:p>
        </p:txBody>
      </p:sp>
      <p:sp>
        <p:nvSpPr>
          <p:cNvPr id="12" name="Title 1">
            <a:extLst xmlns:a="http://schemas.openxmlformats.org/drawingml/2006/main"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Data Collection</a:t>
            </a:r>
            <a:endParaRPr>
              <a:solidFill>
                <a:srgbClr val="0B49CB"/>
              </a:solidFill>
              <a:latin typeface="Liberation Sans"/>
            </a:endParaRP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F7043-3543-4A71-AF44-E3ABB54001F2}"/>
              </a:ext>
            </a:extLst>
          </p:cNvPr>
          <p:cNvGraphicFramePr/>
          <p:nvPr/>
        </p:nvGraphicFramePr>
        <p:xfrm>
          <a:off xmlns:a="http://schemas.openxmlformats.org/drawingml/2006/main" x="838200" y="1809750"/>
          <a:ext xmlns:a="http://schemas.openxmlformats.org/drawingml/2006/main" cx="10477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Records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Use in this report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dataset_part_1 / part_2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90 each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Wrangling, EDA and 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Spacex.csv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101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SQL tasks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spacex_launch_geo.csv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Folium mapping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spacex_launch_dash.csv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56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Dash interactions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44F2F-E6BF-4DEB-93B0-7F46F59D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Keep snapshots separate. Different row counts and labels prevent direct pooling.</a:t>
            </a: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3db7e7b34994647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8</a:t>
            </a:fld>
            <a:endParaRPr>
              <a:latin typeface="Liberation Sans"/>
            </a:endParaR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Data Collection – SpaceX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67BBD-BEA6-42CF-8D53-89AB03C8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51435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Reconstructed API workflow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Resolve nested identifiers to obtain rocket, launchpad, payload and core attributes. Keep Falcon 9 launches and flatten the fields.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Results here use IBM’s published 90-row CSV. A fresh API harvest was not performed.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7CD8E-DDAD-4571-A613-81D0F661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7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GET past launches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301C1-8633-42F8-B38A-92D910B0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333375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C7FCC-846E-4451-975E-F4E6744D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7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Resolve linked resource 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946C3-EAAB-4059-A01E-3063BCC1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333375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24C98-5DFD-43DA-BF68-6E7663E3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7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Filter Falcon 9 and flatten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708A3-2747-451C-9CDF-E316EC34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33875"/>
            <a:ext cx="333375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043ECC-7491-4246-843B-6FF3AD4F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7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Validate and export CSV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f4dce68da2e4e7e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9</a:t>
            </a:fld>
            <a:endParaRPr>
              <a:latin typeface="Liberation Sans"/>
            </a:endParaR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Data Collection – Web Scraping</a:t>
            </a:r>
            <a:endParaRPr>
              <a:solidFill>
                <a:srgbClr val="1C7DDB"/>
              </a:solidFill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Data Collection – Web Scraping</a:t>
            </a:r>
            <a:endParaRPr>
              <a:solidFill>
                <a:srgbClr val="0B49CB"/>
              </a:solidFill>
              <a:latin typeface="Liberation Sans"/>
            </a:endParaRP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B3947-D9E2-45A2-81D6-B54A0C61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51435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Reconstructed scraping workflow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Extract date, booster, site, payload, customer and outcomes. Normalize mass units and remove footnote markers.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Results here use the course SQL snapshot. An independent Wikipedia scrape is now included in the repository. It does not replace the modeling snapshot.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2C527-F7D8-4827-BAF2-804B8227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7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Request launch-list 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C5922-53CB-4EC9-8B70-5008BC0A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333375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9FA45-E3DA-44BF-9518-78E55F2A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7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Parse launch tables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3733F-951E-4CEE-BC03-F3C92846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333375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08DF9-15BD-4228-82AF-E5555421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7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Clean and validate fields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70D30-4B02-4167-BCFA-853B7C76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33875"/>
            <a:ext cx="333375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BA9D3-3E7B-4210-B8F4-B793CBD9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7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Export a separate CSV</a:t>
            </a: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dc239f2ca0f4de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10</a:t>
            </a:fld>
            <a:endParaRPr>
              <a:latin typeface="Liberation Sans"/>
            </a:endParaRP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Data Wrangling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ADB79-8130-431B-B049-93A2F39D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4775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Audit: 90 unique flight numbers, dated 4 June 2010 to 5 November 2020.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The published payload column already contains imputed values. LandingPad has 26 missing entries and is excluded from modeling.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Class 1 = True ASDS, True RTLS or True Ocean. Class 0 combines failure, unknown and no-landing outcomes.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Exclude Outcome from predictors. Fit numeric scaling and categorical encoding inside training folds.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eaabdbb0a37c460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11</a:t>
            </a:fld>
            <a:endParaRPr>
              <a:latin typeface="Liberation Sans"/>
            </a:endParaR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EDA with Data Visualization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4A1E8-BD12-43FE-A464-CD91E5B5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4775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Flight number versus site and orbit: inspect changes across the launch sequence.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Payload versus site and orbit: compare mission profiles and outcome overlap.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Orbit success bars: compare Class 1 proportions with group sizes.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Yearly success line: inspect historical change. No 2011 observation exists in this snapshot.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All six charts use the same 90-row dataset.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c3f076070b94b8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12</a:t>
            </a:fld>
            <a:endParaRPr>
              <a:latin typeface="Liberation Sans"/>
            </a:endParaR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EDA with SQL</a:t>
            </a:r>
            <a:endParaRPr>
              <a:solidFill>
                <a:srgbClr val="0B49CB"/>
              </a:solidFill>
              <a:latin typeface="Liberation Sans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522C6-240A-4E20-874C-5E9652B6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4775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Executed ten SQLite queries on 101 course records.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DISTINCT and LIKE identify launch sites and CCA records.</a:t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SUM and AVG summarize payload mass.</a:t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MIN identifies the first recorded successful ground landing.</a:t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Filters identify drone-ship landings and 2015 failures.</a:t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GROUP BY counts mission and landing outcomes.</a:t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A MAX subquery returns all tied maximum-payload boosters.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Normalize trailing spaces when interpreting mission outcomes.</a:t>
            </a: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edc6062401d44d0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13</a:t>
            </a:fld>
            <a:endParaRPr>
              <a:latin typeface="Liberation Sans"/>
            </a:endParaR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Build an Interactive Map with Folium</a:t>
            </a:r>
            <a:endParaRPr>
              <a:solidFill>
                <a:srgbClr val="0B49CB"/>
              </a:solidFill>
              <a:latin typeface="Liberation Sans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DD418-57C5-4C09-9135-877CC488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4775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Circle markers identify the four site labels in the course file.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A marker cluster contains all 56 launch outcomes. Green means Class 1 and red means Class 0.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Mouse coordinates help inspect the area. Lines show straight-line distances to selected proximity points.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The proximity example uses approximate sample points, not surveyed nearest-feature distances. Course coordinates also require validation before operational use.</a:t>
            </a: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398dbdfbfc446d1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14</a:t>
            </a:fld>
            <a:endParaRPr>
              <a:latin typeface="Liberation Sans"/>
            </a:endParaR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Build a Dashboard with Plotly Dash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59A04-A26B-4B4E-BF1F-5FDC75F7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4775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The site selector switches between all launches and one site.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For all sites, the pie shows each site’s share of successful outcomes. For one site, it shows the Class 0 / Class 1 ratio.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The payload slider filters the scatter plot. Booster version supplies the color grouping.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Screenshots show a locally reconstructed Dash application using the official 56-row course file.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fbdfb7bb438427e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15</a:t>
            </a:fld>
            <a:endParaRPr>
              <a:latin typeface="Liberation Sans"/>
            </a:endParaR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Predictive Analysis (Classification)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1E60C-9653-4214-B370-1BAAB659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4775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Stratified 80/20 split, seed 42: 72 training and 18 test launches.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Five-fold stratified cross-validation tunes logistic regression, SVM, decision tree and KNN on training data only.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Numeric pipeline: median imputation and standard scaling. Categorical pipeline: one-hot encoding with unseen categories ignored.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Choose by mean validation accuracy. Report test accuracy and a confusion matrix without retuning on the test set.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7b506ea00084432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16</a:t>
            </a:fld>
            <a:endParaRPr>
              <a:latin typeface="Liberation Sans"/>
            </a:endParaRPr>
          </a:p>
        </p:txBody>
      </p:sp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Results</a:t>
            </a:r>
            <a:endParaRPr>
              <a:solidFill>
                <a:srgbClr val="0B49CB"/>
              </a:solidFill>
              <a:latin typeface="Liberation Sans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1BA51-338C-46D2-A7CC-56DC739F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4775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EDA: 66.7% Class 1 overall, with substantial variation across orbit and launch year.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SQL: NASA (CRS) payload totals 45,596 kg. The first recorded ground-pad success is 22 December 2015.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Dash: KSC LC-39A contributes 10 of 24 successful outcomes and has the highest site ratio, 10/13.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ML: validation-selected KNN scores 14/18 on the test set. The decision tree scores 15/18.</a:t>
            </a: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</p:sld>
</file>

<file path=ppt/slides/slide1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8efa49ac27c472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70" y="2529746"/>
            <a:ext cx="1058303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48CB"/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  <a:latin typeface="Liberation Sans"/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</p:sld>
</file>

<file path=ppt/slides/slide1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ba52cd3cd62427e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18</a:t>
            </a:fld>
            <a:endParaRPr>
              <a:latin typeface="Liberation Sans"/>
            </a:endParaR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Flight Number vs. Launch Site</a:t>
            </a:r>
            <a:endParaRPr>
              <a:solidFill>
                <a:srgbClr val="0B49CB"/>
              </a:solidFill>
              <a:latin typeface="Liberation Sans"/>
            </a:endParaRP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01D5EE0-F6D4-433C-9978-81242D46ED3A}"/>
              </a:ext>
            </a:extLst>
          </p:cNvPr>
          <p:cNvGraphicFramePr/>
          <p:nvPr/>
        </p:nvGraphicFramePr>
        <p:xfrm>
          <a:off xmlns:a="http://schemas.openxmlformats.org/drawingml/2006/main" x="3810000" y="1619250"/>
          <a:ext xmlns:a="http://schemas.openxmlformats.org/drawingml/2006/main" cx="7429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0ba96dba79487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CAA41-5280-4C77-AFB1-3B58502A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809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Later flights contain more Class 1 outcomes.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Site rates: CCAFS 60.0%, KSC 77.3%, VAFB 76.9%.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1  CCAFS SLC 40</a:t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2  KSC LC 39A</a:t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3  VAFB SLC 4E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8DEF1-F9BB-4037-A759-8125DE99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IBM EDA snapshot: 90 launches. Class 1 includes five successful ocean outcomes.</a:t>
            </a: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</p:sld>
</file>

<file path=ppt/slides/slide1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b8c5df9bbda4b26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19</a:t>
            </a:fld>
            <a:endParaRPr>
              <a:latin typeface="Liberation Sans"/>
            </a:endParaR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Payload vs. Launch Site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63F147B-1986-40CC-AFA8-46FB15F9E5EE}"/>
              </a:ext>
            </a:extLst>
          </p:cNvPr>
          <p:cNvGraphicFramePr/>
          <p:nvPr/>
        </p:nvGraphicFramePr>
        <p:xfrm>
          <a:off xmlns:a="http://schemas.openxmlformats.org/drawingml/2006/main" x="3810000" y="1619250"/>
          <a:ext xmlns:a="http://schemas.openxmlformats.org/drawingml/2006/main" cx="7429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10e64fb9c44a4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D9766-5AC9-45E0-B696-98B7F115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809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Payload ranges overlap across sites.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Payload alone does not separate Class 0 and Class 1. Site comparisons also reflect orbit and launch year.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1  CCAFS SLC 40</a:t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2  KSC LC 39A</a:t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3  VAFB SLC 4E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C7315-093E-4F3E-8BC9-BDB357A2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IBM EDA snapshot: 90 launches. Class 1 includes five successful ocean outcomes.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</p:sld>
</file>

<file path=ppt/slides/slide2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7bd0de924b543c7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20</a:t>
            </a:fld>
            <a:endParaRPr>
              <a:latin typeface="Liberation Sans"/>
            </a:endParaR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Success Rate vs. Orbit Type</a:t>
            </a:r>
            <a:endParaRPr>
              <a:solidFill>
                <a:srgbClr val="0B49CB"/>
              </a:solidFill>
              <a:latin typeface="Liberation Sans"/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9E375-B905-4E11-951B-6DB265E6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85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GTO: 14/27 (51.9%).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VLEO: 12/14 (85.7%).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ES-L1, GEO and HEO each contain one launch.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SSO: 5/5 (100%).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44D911D9-54DF-4510-82BD-58F7931FD775}"/>
              </a:ext>
            </a:extLst>
          </p:cNvPr>
          <p:cNvGraphicFramePr/>
          <p:nvPr/>
        </p:nvGraphicFramePr>
        <p:xfrm>
          <a:off xmlns:a="http://schemas.openxmlformats.org/drawingml/2006/main" x="3810000" y="1619250"/>
          <a:ext xmlns:a="http://schemas.openxmlformats.org/drawingml/2006/main" cx="7429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987c8a0ba9463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9446F-A57D-44F1-A555-5146D261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Descriptive rates. Small groups cannot establish an orbit advantage.</a:t>
            </a: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</p:sld>
</file>

<file path=ppt/slides/slide2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691728737e14257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21</a:t>
            </a:fld>
            <a:endParaRPr>
              <a:latin typeface="Liberation Sans"/>
            </a:endParaR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Flight Number vs. Orbit Type</a:t>
            </a:r>
            <a:endParaRPr>
              <a:solidFill>
                <a:srgbClr val="0B49CB"/>
              </a:solidFill>
              <a:latin typeface="Liberation Sans"/>
            </a:endParaRP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EC04838-23E9-4D22-9E87-E5BA13AEB8C8}"/>
              </a:ext>
            </a:extLst>
          </p:cNvPr>
          <p:cNvGraphicFramePr/>
          <p:nvPr/>
        </p:nvGraphicFramePr>
        <p:xfrm>
          <a:off xmlns:a="http://schemas.openxmlformats.org/drawingml/2006/main" x="3810000" y="1619250"/>
          <a:ext xmlns:a="http://schemas.openxmlformats.org/drawingml/2006/main" cx="7429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0b11998e61479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7368B-C36C-4240-B9D2-5BBB713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809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Orbit mix changes over the launch sequence. VLEO appears late in this snapshot.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BBE5D-A0C3-4C43-9F6E-1F59D549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809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1  ES-L1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2  GEO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3  GTO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4  HEO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5  ISS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6  LEO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7  MEO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8  PO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9  SO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10  SSO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11  VLEO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A747C-11D8-4583-B507-8E1DEA00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IBM EDA snapshot: 90 launches. Class 1 includes five successful ocean outcomes.</a:t>
            </a: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</p:sld>
</file>

<file path=ppt/slides/slide2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5445c4de5424ece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22</a:t>
            </a:fld>
            <a:endParaRPr>
              <a:latin typeface="Liberation Sans"/>
            </a:endParaR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Payload vs. Orbit Type</a:t>
            </a:r>
            <a:endParaRPr>
              <a:solidFill>
                <a:srgbClr val="0B49CB"/>
              </a:solidFill>
              <a:latin typeface="Liberation Sans"/>
            </a:endParaRP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394D7F9-56A7-44C9-9F6B-449CDC566AEC}"/>
              </a:ext>
            </a:extLst>
          </p:cNvPr>
          <p:cNvGraphicFramePr/>
          <p:nvPr/>
        </p:nvGraphicFramePr>
        <p:xfrm>
          <a:off xmlns:a="http://schemas.openxmlformats.org/drawingml/2006/main" x="3810000" y="1619250"/>
          <a:ext xmlns:a="http://schemas.openxmlformats.org/drawingml/2006/main" cx="7429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ce253d5131452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3AD36-6D9A-4126-A445-8872A8AA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809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Heavy VLEO launches often succeed. This association is not causal.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BF3A6-EB50-4EEB-AB5F-49277E6D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809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1  ES-L1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2  GEO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3  GTO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4  HEO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5  ISS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6  LEO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7  MEO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8  PO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9  SO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10  SSO</a:t>
            </a:r>
          </a:p>
          <a:p xmlns:a="http://schemas.openxmlformats.org/drawingml/2006/main">
            <a:pPr>
              <a:def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11  VLEO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46F9B-6971-4DF7-97BA-4E76B9A1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IBM EDA snapshot: 90 launches. Class 1 includes five successful ocean outcomes.</a:t>
            </a: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</p:sld>
</file>

<file path=ppt/slides/slide2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2f7862cb0b54054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23</a:t>
            </a:fld>
            <a:endParaRPr>
              <a:latin typeface="Liberation Sans"/>
            </a:endParaR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Launch Success Yearly Trend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C9798-B6B6-4ADD-B442-9D8F883C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85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2017: 15/18 (83.3%)</a:t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2018: 11/18 (61.1%)</a:t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2019: 9/10 (90.0%)</a:t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2020: 16/19 (84.2%)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The trend improves over the early years but is not monotonic.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CC1C3F3-FC29-4017-9373-17C79686C3AB}"/>
              </a:ext>
            </a:extLst>
          </p:cNvPr>
          <p:cNvGraphicFramePr/>
          <p:nvPr/>
        </p:nvGraphicFramePr>
        <p:xfrm>
          <a:off xmlns:a="http://schemas.openxmlformats.org/drawingml/2006/main" x="3810000" y="1619250"/>
          <a:ext xmlns:a="http://schemas.openxmlformats.org/drawingml/2006/main" cx="7429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8bc1594b73476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D57C6-489C-4B52-B181-96725B4E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2011 has no records. 2020 ends on 5 November and is not a full-year census.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</p:sld>
</file>

<file path=ppt/slides/slide2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0fdbdaa94414118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24</a:t>
            </a:fld>
            <a:endParaRPr>
              <a:latin typeface="Liberation Sans"/>
            </a:endParaR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All Launch Site Names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0A95C-D195-441D-9E23-7B61BC70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Four labels appear. CCAFS LC-40 and SLC-40 refer to the same pad designation across records.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7E02C-645A-45A3-9295-6A733636E73B}"/>
              </a:ext>
            </a:extLst>
          </p:cNvPr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104775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Launch_Site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CCAFS LC-40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CCAFS SLC-40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KSC LC-39A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VAFB SLC-4E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7C24A-F022-497B-B580-9167CCF2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SELECT DISTINCT Launch_Site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FROM launches ORDER BY Launch_Site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</p:sld>
</file>

<file path=ppt/slides/slide2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f3669775952407f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25</a:t>
            </a:fld>
            <a:endParaRPr>
              <a:latin typeface="Liberation Sans"/>
            </a:endParaR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Launch Site Names Begin with 'CCA'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505CE-BEDB-4ADE-9D12-F0EE69D2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First five matches in date order, with a deterministic ORDER BY.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F17A6-EE1B-4B8C-8AD7-3DAC2B2BDEAA}"/>
              </a:ext>
            </a:extLst>
          </p:cNvPr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104775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Booster_Version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Launch_Site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2010-06-04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v1.0  B0003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CCAFS LC-40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2010-12-08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v1.0  B0004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CCAFS LC-40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2012-05-22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v1.0  B0005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CCAFS LC-40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2012-10-08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v1.0  B0006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CCAFS LC-40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2013-03-01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v1.0  B0007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CCAFS LC-40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912D0-1DA7-4F07-88A6-68312D77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SELECT Date,Booster_Version,Launch_Site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FROM launches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WHERE Launch_Site LIKE 'CCA%' ORDER BY Date LIMIT 5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</p:sld>
</file>

<file path=ppt/slides/slide2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72ac883b86949f5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26</a:t>
            </a:fld>
            <a:endParaRPr>
              <a:latin typeface="Liberation Sans"/>
            </a:endParaR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Total Payload Mass: NASA (CRS)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31582-DE78-4031-92BC-DE37BFE2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Exact customer match: NASA (CRS). This total excludes other NASA customer labels.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06359-0E13-4171-B40C-765CA1C276AE}"/>
              </a:ext>
            </a:extLst>
          </p:cNvPr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10477500" cy="819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kg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45596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C42EA-B516-4366-8CB7-83CFD527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SELECT SUM(PAYLOAD_MASS__KG_) AS kg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FROM launches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WHERE Customer='NASA (CRS)'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</p:sld>
</file>

<file path=ppt/slides/slide2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5b047e42e4d4cfc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27</a:t>
            </a:fld>
            <a:endParaRPr>
              <a:latin typeface="Liberation Sans"/>
            </a:endParaR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Average Payload Mass: F9 v1.1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9C00B-473F-4CF2-A2E5-66655884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Prefix match includes all F9 v1.1 booster identifiers.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725E5-B713-4A16-9FA6-FBA207326E70}"/>
              </a:ext>
            </a:extLst>
          </p:cNvPr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10477500" cy="819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kg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2534.67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9A81B-D08B-4FCF-B986-D115F37A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SELECT AVG(PAYLOAD_MASS__KG_) AS kg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FROM launches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WHERE Booster_Version LIKE 'F9 v1.1%'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</p:sld>
</file>

<file path=ppt/slides/slide2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0059e9db2164e9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28</a:t>
            </a:fld>
            <a:endParaRPr>
              <a:latin typeface="Liberation Sans"/>
            </a:endParaR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First Successful Ground Landing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2B8EB-97A8-41C9-8139-3EF66201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Minimum date where Landing_Outcome is exactly Success (ground pad).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9EC60-32C5-40AB-933C-3F6DB02C59EB}"/>
              </a:ext>
            </a:extLst>
          </p:cNvPr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10477500" cy="819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2015-12-22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B23DE-C987-4C05-A831-1B2885B5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SELECT MIN(Date) AS Date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FROM launches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WHERE Landing_Outcome='Success (ground pad)'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</p:sld>
</file>

<file path=ppt/slides/slide2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1706d3d80f6485c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29</a:t>
            </a:fld>
            <a:endParaRPr>
              <a:latin typeface="Liberation Sans"/>
            </a:endParaRP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Drone-Ship Successes: 4,000–6,000 kg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6902A-30D9-4C76-BF93-161B95DA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Strict inequalities exclude payloads equal to 4,000 or 6,000 kg.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A0549-E1FF-4871-9274-A15C6242D7E4}"/>
              </a:ext>
            </a:extLst>
          </p:cNvPr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104775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Booster_Version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FT B1022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FT B1026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FT  B1021.2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FT  B1031.2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C2B6B-54B1-4565-8653-B0B91699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SELECT DISTINCT Booster_Version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FROM launches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WHERE Landing_Outcome='Success (drone ship)' AND PAYLOAD_MASS__KG_ &gt; 4000 AND PAYLOAD_MASS__KG_ &lt; 6000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e7a2c837bcf48f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30</a:t>
            </a:fld>
            <a:endParaRPr>
              <a:latin typeface="Liberation Sans"/>
            </a:endParaR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Mission Outcomes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70FBA-3215-46D0-90B7-E8C4190F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After trimming spaces: 99 Success, 1 payload-status-unclear success, 1 in-flight failure.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36A6B-A212-409F-BBD7-92FB39456B99}"/>
              </a:ext>
            </a:extLst>
          </p:cNvPr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10477500" cy="163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Mission_Outcome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Failure (in flight)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Success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99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Success (payload status unclear)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5EAA7-24C9-4AE3-B1CB-A453550D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SELECT TRIM(Mission_Outcome) AS Mission_Outcome, COUNT(*) AS n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FROM launches GROUP BY TRIM(Mission_Outcome)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</p:sld>
</file>

<file path=ppt/slides/slide3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735aff5c26945f9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31</a:t>
            </a:fld>
            <a:endParaRPr>
              <a:latin typeface="Liberation Sans"/>
            </a:endParaR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Boosters with Maximum Payload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E0507-C709-4756-862A-2293947C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All 12 tied records carry 15,600 kg. No arbitrary single winner.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707AE-EFB3-4E4E-A868-C3CEBDC9154D}"/>
              </a:ext>
            </a:extLst>
          </p:cNvPr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104775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37419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Booster version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Booster version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Payload (kg)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37419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B5 B1048.4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B5 B1049.5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15,600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419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B5 B1049.4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B5 B1060.2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15,600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  <a:tr h="37419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B5 B1051.3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B5 B1058.3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15,600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419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B5 B1056.4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B5 B1051.6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15,600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  <a:tr h="37419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B5 B1048.5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B5 B1060.3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15,600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419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B5 B1051.4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B5 B1049.7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15,600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248EF-5AA7-438F-BBF1-8B750E5D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SELECT Booster_Version,PAYLOAD_MASS__KG_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FROM launches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WHERE PAYLOAD_MASS__KG_=(SELECT MAX(PAYLOAD_MASS__KG_)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FROM launches)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</p:sld>
</file>

<file path=ppt/slides/slide3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e9e8423053394f5d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32</a:t>
            </a:fld>
            <a:endParaRPr>
              <a:latin typeface="Liberation Sans"/>
            </a:endParaR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2015 Drone-Ship Landing Failures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889D6-5FDA-4747-8EB6-4CC8D2EB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Two failures match the exact drone-ship label. Other failure categories are excluded.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90CE5-3C11-4F5A-A21A-B859263BF2D4}"/>
              </a:ext>
            </a:extLst>
          </p:cNvPr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10477500" cy="1228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Booster_Version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Launch_Site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2015-01-10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v1.1 B1012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CCAFS LC-40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2015-04-14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F9 v1.1 B1015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CCAFS LC-40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21F78-6F6F-4A0B-8556-508C5CF5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SELECT Date,Booster_Version,Launch_Site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FROM launches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WHERE Date LIKE '2015%' AND Landing_Outcome='Failure (drone ship)'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</p:sld>
</file>

<file path=ppt/slides/slide3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1cb2d2f37be4699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33</a:t>
            </a:fld>
            <a:endParaRPr>
              <a:latin typeface="Liberation Sans"/>
            </a:endParaR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Landing Outcomes: 2010–2017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BD89D-7BB4-4551-A34A-ED459F29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Inclusive date range: 4 June 2010 through 20 March 2017. 31 records in total.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963EB-4AE3-479D-9EF2-FFAEF009921D}"/>
              </a:ext>
            </a:extLst>
          </p:cNvPr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10477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317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Landing_Outcome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No attempt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Success (drone ship)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Failure (drone ship)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Success (ground pad)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Controlled (ocean)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Uncontrolled (ocean)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Failure (parachute)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Precluded (drone ship)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10111-4E99-46E9-B2AB-F18C911F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SELECT Landing_Outcome,COUNT(*) AS n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FROM launches</a:t>
            </a:r>
          </a:p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444444"/>
                </a:solidFill>
                <a:latin typeface="Liberation Sans"/>
                <a:ea typeface="Liberation Sans"/>
                <a:cs typeface="Liberation Sans"/>
              </a:rPr>
              <a:t>WHERE Date BETWEEN '2010-06-04' AND '2017-03-20' GROUP BY Landing_Outcome ORDER BY n DESC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</p:sld>
</file>

<file path=ppt/slides/slide3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4801b196c984d8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70" y="2529746"/>
            <a:ext cx="1058303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48CB"/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  <a:latin typeface="Liberation Sans"/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</p:sld>
</file>

<file path=ppt/slides/slide3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0eb79e873d244a95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35</a:t>
            </a:fld>
            <a:endParaRPr>
              <a:latin typeface="Liberation Sans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Launch Sites in the Course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ED0D4-D03F-42F7-8941-05BBC349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85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Four site labels span Florida and California.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The two CCAFS labels nearly overlap. Keep raw labels visible when auditing the source.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66CE7-B147-4A2B-ADF9-DE672AF45C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dd0f6067741a3"/>
          <a:stretch xmlns:a="http://schemas.openxmlformats.org/drawingml/2006/main"/>
        </p:blipFill>
        <p:spPr>
          <a:xfrm xmlns:a="http://schemas.openxmlformats.org/drawingml/2006/main">
            <a:off x="4150895" y="1590675"/>
            <a:ext cx="6842961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757EC-83CD-4291-AFDB-70120886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Reconstructed Folium view. Basemap: OpenStreetMap contributors. Source: IBM geographic snapshot.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</p:sld>
</file>

<file path=ppt/slides/slide3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3f3e94da2adc425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36</a:t>
            </a:fld>
            <a:endParaRPr>
              <a:latin typeface="Liberation Sans"/>
            </a:endParaRP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Launch Outcomes at Cape Canaveral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667AC-AE9B-4116-BD89-1423AEBF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85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The Folium cluster holds all 56 records.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Expand a cluster to inspect green Class 1 and red Class 0 markers at the same coordinates.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9FEBD-81C2-4CA0-B9B6-ED633023A8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289ff59af4f4e"/>
          <a:stretch xmlns:a="http://schemas.openxmlformats.org/drawingml/2006/main"/>
        </p:blipFill>
        <p:spPr>
          <a:xfrm xmlns:a="http://schemas.openxmlformats.org/drawingml/2006/main">
            <a:off x="4150895" y="1590675"/>
            <a:ext cx="6842961" cy="4000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3BC44-A54C-4EA3-9005-2D606226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Reconstructed Folium view. Basemap: OpenStreetMap contributors. Source: IBM geographic snapshot.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01fe1a6d0234e34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37</a:t>
            </a:fld>
            <a:endParaRPr>
              <a:latin typeface="Liberation Sans"/>
            </a:endParaRP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CCAFS LC-40 Proximity Example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2D9A3-858B-4C40-9E38-57AF397A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85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Selected points:</a:t>
            </a:r>
          </a:p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Coastline: 0.94 km</a:t>
            </a:r>
          </a:p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Road: 0.44 km</a:t>
            </a:r>
          </a:p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Rail corridor: 1.40 km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Approximate sample points. Distances are straight line, not nearest-feature measurements.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5583E-355D-4DD7-9678-59661219D0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75dc0c06344f7"/>
          <a:stretch xmlns:a="http://schemas.openxmlformats.org/drawingml/2006/main"/>
        </p:blipFill>
        <p:spPr>
          <a:xfrm xmlns:a="http://schemas.openxmlformats.org/drawingml/2006/main">
            <a:off x="4150895" y="1590675"/>
            <a:ext cx="6842961" cy="4000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0554E-F150-456C-B318-180C611D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Reconstructed Folium view. Basemap: OpenStreetMap contributors. Source: IBM geographic snapshot.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</p:sld>
</file>

<file path=ppt/slides/slide3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13e251880d94c3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70" y="2529746"/>
            <a:ext cx="1058303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48CB"/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  <a:latin typeface="Liberation Sans"/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</p:sld>
</file>

<file path=ppt/slides/slide3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df409ad65ec4fec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39</a:t>
            </a:fld>
            <a:endParaRPr>
              <a:latin typeface="Liberation Sans"/>
            </a:endParaRP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Dashboard: Successful Outcomes by Site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2B1D2-5067-4FAE-AC21-7420B147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85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KSC: 10 of 24 successes (41.7%).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This pie compares success counts across sites. It does not show each site’s success probability.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80B5B-6984-452E-B5E7-01F328FC1B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6a7739206411a"/>
          <a:stretch xmlns:a="http://schemas.openxmlformats.org/drawingml/2006/main"/>
        </p:blipFill>
        <p:spPr>
          <a:xfrm xmlns:a="http://schemas.openxmlformats.org/drawingml/2006/main">
            <a:off x="4150895" y="1590675"/>
            <a:ext cx="6842961" cy="4000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43A47-9C6C-49E3-82DA-7E931CC8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Reconstructed, functioning Plotly Dash application. IBM dashboard snapshot: 56 launches.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</p:sld>
</file>

<file path=ppt/slides/slide4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f7eae1dd4754364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40</a:t>
            </a:fld>
            <a:endParaRPr>
              <a:latin typeface="Liberation Sans"/>
            </a:endParaRP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Dashboard: KSC LC-39A Outcome Ratio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79374-F14C-4F8D-8C03-8DC9F565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85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KSC has the highest site ratio in this snapshot: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10 Class 1 / 13 launches = 76.9%.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The sample contains only 13 launches.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E0DF2-F19E-45FA-AB7A-2265278C46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56e61aac145db"/>
          <a:stretch xmlns:a="http://schemas.openxmlformats.org/drawingml/2006/main"/>
        </p:blipFill>
        <p:spPr>
          <a:xfrm xmlns:a="http://schemas.openxmlformats.org/drawingml/2006/main">
            <a:off x="4150895" y="1590675"/>
            <a:ext cx="6842961" cy="4000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E503F-D801-4C66-BEE7-AFE834F9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Reconstructed, functioning Plotly Dash application. IBM dashboard snapshot: 56 launches.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</p:sld>
</file>

<file path=ppt/slides/slide4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4d6e83ed8bd4226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41</a:t>
            </a:fld>
            <a:endParaRPr>
              <a:latin typeface="Liberation Sans"/>
            </a:endParaRPr>
          </a:p>
        </p:txBody>
      </p:sp>
      <p:sp>
        <p:nvSpPr>
          <p:cNvPr id="12" name="Title 1">
            <a:extLst xmlns:a="http://schemas.openxmlformats.org/drawingml/2006/main"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Dashboard: Payload Range Filter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52755-2D2C-4E81-8EC9-1E69EE47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85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The 5,000–10,000 kg range contains 14 launches and 5 Class 1 outcomes (35.7%).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Compare this selected range with the full range on slide 39.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B5 has 1/1 success overall. That single launch cannot establish version superiority.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C008F-B523-4985-A862-A4ECA3DB6E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ad21739504caf"/>
          <a:stretch xmlns:a="http://schemas.openxmlformats.org/drawingml/2006/main"/>
        </p:blipFill>
        <p:spPr>
          <a:xfrm xmlns:a="http://schemas.openxmlformats.org/drawingml/2006/main">
            <a:off x="4150895" y="1590675"/>
            <a:ext cx="6842961" cy="4000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1B05A-AFEA-4DB2-9C87-CE6D40B3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Reconstructed, functioning Plotly Dash application. IBM dashboard snapshot: 56 launches.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</p:sld>
</file>

<file path=ppt/slides/slide4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1cc3f1f50164c2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70" y="2529746"/>
            <a:ext cx="1058303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48CB"/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  <a:latin typeface="Liberation Sans"/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</p:sld>
</file>

<file path=ppt/slides/slide4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424c480992849e9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43</a:t>
            </a:fld>
            <a:endParaRPr>
              <a:latin typeface="Liberation Sans"/>
            </a:endParaRPr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Classification Accuracy</a:t>
            </a:r>
            <a:endParaRPr>
              <a:solidFill>
                <a:srgbClr val="0B49CB"/>
              </a:solidFill>
              <a:latin typeface="Liberation Sans"/>
            </a:endParaRP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3719F7CE-5866-4B57-9301-14E7451EDEB1}"/>
              </a:ext>
            </a:extLst>
          </p:cNvPr>
          <p:cNvGraphicFramePr/>
          <p:nvPr/>
        </p:nvGraphicFramePr>
        <p:xfrm>
          <a:off xmlns:a="http://schemas.openxmlformats.org/drawingml/2006/main" x="3810000" y="1619250"/>
          <a:ext xmlns:a="http://schemas.openxmlformats.org/drawingml/2006/main" cx="7429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253291df7b4b90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5C215-9194-4DE8-942B-889AC034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857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Tree has the highest observed test score: 15/18.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KNN leads CV: 89.0%, versus SVM 88.9%.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Always-Class-1 test baseline: 12/18 (66.7%).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80109-3579-4218-9F15-554D8924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Model selection uses training CV. Test-set ranking is descriptive and must not guide retuning.</a:t>
            </a: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</p:sld>
</file>

<file path=ppt/slides/slide4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034b2ec8d5504219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44</a:t>
            </a:fld>
            <a:endParaRPr>
              <a:latin typeface="Liberation Sans"/>
            </a:endParaRPr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Confusion Matrices</a:t>
            </a:r>
            <a:endParaRPr>
              <a:solidFill>
                <a:srgbClr val="0B49CB"/>
              </a:solidFill>
              <a:latin typeface="Liberation Sans"/>
            </a:endParaRP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CB572-D2E4-46EA-98EE-122CE6CB5AF0}"/>
              </a:ext>
            </a:extLst>
          </p:cNvPr>
          <p:cNvGraphicFramePr/>
          <p:nvPr/>
        </p:nvGraphicFramePr>
        <p:xfrm>
          <a:off xmlns:a="http://schemas.openxmlformats.org/drawingml/2006/main" x="838200" y="1905000"/>
          <a:ext xmlns:a="http://schemas.openxmlformats.org/drawingml/2006/main" cx="4857750" cy="176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1619250"/>
                <a:gridCol w="1619250"/>
              </a:tblGrid>
              <a:tr h="587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Decision tree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Predicted 0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Predicted 1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Actual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Actual 1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EB86E-865A-4ABD-92A5-642661A29784}"/>
              </a:ext>
            </a:extLst>
          </p:cNvPr>
          <p:cNvGraphicFramePr/>
          <p:nvPr/>
        </p:nvGraphicFramePr>
        <p:xfrm>
          <a:off xmlns:a="http://schemas.openxmlformats.org/drawingml/2006/main" x="6238875" y="1905000"/>
          <a:ext xmlns:a="http://schemas.openxmlformats.org/drawingml/2006/main" cx="5048250" cy="176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82750"/>
                <a:gridCol w="1682750"/>
                <a:gridCol w="1682750"/>
              </a:tblGrid>
              <a:tr h="587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KNN (CV selected)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Predicted 0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Predicted 1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Actual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Actual 1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03C32-3F9A-4CA9-AEA1-4CE87699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047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Decision tree: accuracy 83.3%, precision 80.0%, recall 100%, F1 88.9%.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KNN: accuracy 77.8%, precision 78.6%, recall 91.7%, F1 84.6%.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Both falsely predict success for 3 of the 6 actual Class 0 launches.</a:t>
            </a: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</p:sld>
</file>

<file path=ppt/slides/slide4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351cbf879ed4041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45</a:t>
            </a:fld>
            <a:endParaRPr>
              <a:latin typeface="Liberation Sans"/>
            </a:endParaRPr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Conclusions</a:t>
            </a:r>
            <a:endParaRPr>
              <a:solidFill>
                <a:srgbClr val="0B49CB"/>
              </a:solidFill>
              <a:latin typeface="Liberation Sans"/>
            </a:endParaRP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1EDEA-423B-439C-8837-420F71CD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4775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Historical launch outcomes improve across the early flight sequence. Orbit, payload and site remain entangled with time and mission mix.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The course target includes ocean successes and groups unknown outcomes with failures. It does not directly measure booster recovery for reuse.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The tree achieves 83.3% test accuracy, but the test set has only 18 launches. KNN and SVM are effectively tied in CV.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Next steps: validate prelaunch feature availability, use time-based testing, refine the recovery target and quantify uncertainty.</a:t>
            </a: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</p:sld>
</file>

<file path=ppt/slides/slide4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cbf150d37c640ec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rPr>
                <a:latin typeface="Liberation Sans"/>
              </a:rPr>
              <a:t>46</a:t>
            </a:fld>
            <a:endParaRPr>
              <a:latin typeface="Liberation Sans"/>
            </a:endParaRP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668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Liberation Sans"/>
                <a:ea typeface="IBM Plex Mono SemiBold"/>
                <a:cs typeface="IBM Plex Mono SemiBold"/>
              </a:defRPr>
            </a:lvl1pPr>
            <a:lvl2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2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Appendix: Reproducibility</a:t>
            </a:r>
            <a:endParaRPr>
              <a:solidFill>
                <a:srgbClr val="0B49CB"/>
              </a:solidFill>
              <a:latin typeface="Liberation Sans"/>
            </a:endParaRP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2F019-B49B-4843-AD23-9F58C860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EDA / ML: 90 rows, 60 Class 1 and 30 Class 0. Train/test split: 72/18, stratified, random_state=42.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Predictors: FlightNumber, PayloadMass, Flights, Block, ReusedCount, Orbit, LaunchSite, GridFins, Reused and Legs.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Exclude Outcome, Class, LandingPad, Serial, Date and redundant location fields from X. ReusedCount needs a prelaunch-availability audit.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Five CV folds, shuffled with seed 42. scikit-learn 1.9.1. Executed notebooks and Python files are available in the linked repository.</a:t>
            </a:r>
          </a:p>
        </p:txBody>
      </p:sp>
      <p:sp>
        <p:nvSpPr>
          <p:cNvPr id="999" name="GitHub repository link"/>
          <p:cNvSpPr txBox="1"/>
          <p:nvPr/>
        </p:nvSpPr>
        <p:spPr>
          <ns0:xfrm xmlns:ns0="http://schemas.openxmlformats.org/drawingml/2006/main">
            <ns0:off x="838200" y="5667375"/>
            <ns0:ext cx="10477500" cy="476250"/>
          </ns0:xfrm>
          <ns1:prstGeom xmlns:ns1="http://schemas.openxmlformats.org/drawingml/2006/main" prst="rect">
            <ns1:avLst/>
          </ns1:prstGeom>
          <ns2:noFill xmlns:ns2="http://schemas.openxmlformats.org/drawingml/2006/main"/>
        </p:spPr>
        <p:txBody>
          <ns3:bodyPr xmlns:ns3="http://schemas.openxmlformats.org/drawingml/2006/main"/>
          <ns4:lstStyle xmlns:ns4="http://schemas.openxmlformats.org/drawingml/2006/main"/>
          <ns5:p xmlns:ns5="http://schemas.openxmlformats.org/drawingml/2006/main">
            <ns5:r>
              <ns5:rPr sz="1400">
                <ns5:solidFill>
                  <ns5:srgbClr val="0B49CB"/>
                </ns5:solidFill>
                <ns5:latin typeface="Liberation Sans"/>
              </ns5:rPr>
              <ns5:t>Completed notebooks and Python files:
https://github.com/mohitpingale24-alt/IBM-Stock-Data-Analysis/tree/main/spacex-capstone</ns5:t>
            </ns5:r>
          </ns5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1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1BEE5-BDD8-4B17-B13F-B8C80BE0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76350"/>
            <a:ext cx="105441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B49C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4EA97-6336-4B05-914E-430DF362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1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Appendix: Hyperparameter Search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F1B5A-7EE6-4F46-89DA-916FA04740A6}"/>
              </a:ext>
            </a:extLst>
          </p:cNvPr>
          <p:cNvGraphicFramePr/>
          <p:nvPr/>
        </p:nvGraphicFramePr>
        <p:xfrm>
          <a:off xmlns:a="http://schemas.openxmlformats.org/drawingml/2006/main" x="838200" y="1714500"/>
          <a:ext xmlns:a="http://schemas.openxmlformats.org/drawingml/2006/main" cx="10477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6858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Grid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Selected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Logistic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C: .01, .1, 1, 10, 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C=.1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SVM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C: .1, 1, 10, 100</a:t>
                      </a:r>
                    </a:p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kernel: linear/rbf; gamma: scale/.01/.1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C=1, rbf, gamma=scale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Tree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depth: 2,3,4,5,None; leaf: 1,2,4</a:t>
                      </a:r>
                    </a:p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criterion: gini/entropy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depth=3, leaf=4, gini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KNN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neighbors: 3,5,7,9; p: 1,2</a:t>
                      </a:r>
                    </a:p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weights: uniform/distance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92929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k=3, p=1, distance</a:t>
                      </a:r>
                    </a:p>
                  </a:txBody>
                  <a:tcPr marL="91440" marR="91440" marT="45720" marB="45720">
                    <a:solidFill>
                      <a:srgbClr val="E8ED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4D62F-5E0B-42AC-8E54-6D616291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Best mean CV accuracy selects each configuration. No test data enter preprocessing or tuning.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73C6E-B59D-4209-B0CF-B7BCB15B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207974560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1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BD113-1D62-4CAA-8692-2C7CD79D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76350"/>
            <a:ext cx="105441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B49C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FD4F3-F291-462A-BADE-0DE47E61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1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Appendix: Evidence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09A20-B08B-440D-9EF2-6A308DC1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Completed here: CSV audits, ten SQLite queries, six EDA charts, four trained classifiers, Folium maps and working Dash views.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API: official IBM snapshot, with an optional live collector. Web scraping: executed independently on archived Wikipedia HTML. Modeling results continue to use the IBM snapshot.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Maps preserve course coordinates. Proximity points are approximate demonstrations. No surveyed distance or site-safety claim follows.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Random splitting can share booster history across sets. Prior payload imputation and possible retrospective fields limit leakage guarantees.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2AFC8-1542-4208-8946-E79AAAAC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30303034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1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77255-C40F-4DFA-ABB9-7D287E84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76350"/>
            <a:ext cx="105441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B49C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DBFD7-365A-437F-85E8-1F0C0B7B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1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75" b="0">
                <a:solidFill>
                  <a:srgbClr val="0B49CB"/>
                </a:solidFill>
                <a:latin typeface="Liberation Sans"/>
                <a:ea typeface="Liberation Sans"/>
                <a:cs typeface="Liberation Sans"/>
              </a:rPr>
              <a:t>Appendix: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DE494-7D19-4C7F-932A-0B8754C9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IBM course data and template (retrieved 27 October 2026)</a:t>
            </a:r>
          </a:p>
          <a:p xmlns:a="http://schemas.openxmlformats.org/drawingml/2006/main">
            <a: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https://cf-courses-data.s3.us.cloud-object-storage.appdomain.cloud/IBM-DS0321EN-SkillsNetwork/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EDA / ML: datasets/dataset_part_1.csv and dataset_part_2.csv</a:t>
            </a:r>
          </a:p>
          <a:p xmlns:a="http://schemas.openxmlformats.org/drawingml/2006/main">
            <a: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SQL: labs/module_2/data/Spacex.csv</a:t>
            </a:r>
          </a:p>
          <a:p xmlns:a="http://schemas.openxmlformats.org/drawingml/2006/main">
            <a: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Maps: datasets/spacex_launch_geo.csv</a:t>
            </a:r>
          </a:p>
          <a:p xmlns:a="http://schemas.openxmlformats.org/drawingml/2006/main">
            <a: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Dashboard: datasets/spacex_launch_dash.csv</a:t>
            </a:r>
          </a:p>
          <a:p xmlns:a="http://schemas.openxmlformats.org/drawingml/2006/main">
            <a: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Template: labs/module_5/ds-capstone-template-coursera.pptx</a:t>
            </a:r>
          </a:p>
          <a:p xmlns:a="http://schemas.openxmlformats.org/drawingml/2006/main">
            <a:r>
              <a:rPr>
                <a:latin typeface="Liberation Sans"/>
              </a:rPr>
              <a:t/>
            </a:r>
          </a:p>
          <a:p xmlns:a="http://schemas.openxmlformats.org/drawingml/2006/main">
            <a: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API methodology: github.com/r-spacex/SpaceX-API</a:t>
            </a:r>
          </a:p>
          <a:p xmlns:a="http://schemas.openxmlformats.org/drawingml/2006/main">
            <a: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Scraping methodology: Wikipedia, List of Falcon 9 and Falcon Heavy launches</a:t>
            </a:r>
          </a:p>
          <a:p xmlns:a="http://schemas.openxmlformats.org/drawingml/2006/main">
            <a:pPr>
              <a:def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92929"/>
                </a:solidFill>
                <a:latin typeface="Liberation Sans"/>
                <a:ea typeface="Liberation Sans"/>
                <a:cs typeface="Liberation Sans"/>
              </a:rPr>
              <a:t>Basemap attribution: OpenStreetMap contributors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8D4FD-10CD-4F8A-A2C6-C05685C0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C7DDB"/>
                </a:solidFill>
                <a:latin typeface="Liberation Sans"/>
                <a:ea typeface="Liberation Sans"/>
                <a:cs typeface="Liberation Sans"/>
              </a:rPr>
              <a:t>49</a:t>
            </a:r>
          </a:p>
        </p:txBody>
      </p:sp>
      <p:sp>
        <p:nvSpPr>
          <p:cNvPr id="999" name="GitHub repository link"/>
          <p:cNvSpPr txBox="1"/>
          <p:nvPr/>
        </p:nvSpPr>
        <p:spPr>
          <ns0:xfrm xmlns:ns0="http://schemas.openxmlformats.org/drawingml/2006/main">
            <ns0:off x="838200" y="5667375"/>
            <ns0:ext cx="10477500" cy="476250"/>
          </ns0:xfrm>
          <ns1:prstGeom xmlns:ns1="http://schemas.openxmlformats.org/drawingml/2006/main" prst="rect">
            <ns1:avLst/>
          </ns1:prstGeom>
          <ns2:noFill xmlns:ns2="http://schemas.openxmlformats.org/drawingml/2006/main"/>
        </p:spPr>
        <p:txBody>
          <ns3:bodyPr xmlns:ns3="http://schemas.openxmlformats.org/drawingml/2006/main"/>
          <ns4:lstStyle xmlns:ns4="http://schemas.openxmlformats.org/drawingml/2006/main"/>
          <ns5:p xmlns:ns5="http://schemas.openxmlformats.org/drawingml/2006/main">
            <ns5:r>
              <ns5:rPr sz="1400">
                <ns5:solidFill>
                  <ns5:srgbClr val="0B49CB"/>
                </ns5:solidFill>
                <ns5:latin typeface="Liberation Sans"/>
              </ns5:rPr>
              <ns5:t>Completed notebooks and Python files:
https://github.com/mohitpingale24-alt/IBM-Stock-Data-Analysis/tree/main/spacex-capstone</ns5:t>
            </ns5:r>
          </ns5:p>
        </p:txBody>
      </p:sp>
    </p:spTree>
    <p:extLst>
      <p:ext uri="{BB962C8B-B14F-4D97-AF65-F5344CB8AC3E}">
        <p14:creationId xmlns:p14="http://schemas.microsoft.com/office/powerpoint/2010/main" val="568139408"/>
      </p:ext>
    </p:extLst>
  </p:cSld>
</p:sld>
</file>

<file path=ppt/slides/slide5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a709d9457ec4b1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CEF2C-9847-45D7-986D-6A7D32E3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SpaceX Falcon 9 historical analysis</a:t>
            </a:r>
          </a:p>
        </p:txBody>
      </p:sp>
    </p:spTree>
    <p:extLst>
      <p:ext uri="{BB962C8B-B14F-4D97-AF65-F5344CB8AC3E}">
        <p14:creationId xmlns:p14="http://schemas.microsoft.com/office/powerpoint/2010/main" val="661040741"/>
      </p:ext>
    </p:extLst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2026-10-27T17:28:13.8800000Z</dcterms:created>
  <dcterms:modified xsi:type="dcterms:W3CDTF">2026-10-27T17:28:13.8800000Z</dcterms:modified>
</coreProperties>
</file>